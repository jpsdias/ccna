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8.xml" ContentType="application/vnd.openxmlformats-officedocument.presentationml.tags+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3"/>
  </p:notesMasterIdLst>
  <p:sldIdLst>
    <p:sldId id="513" r:id="rId2"/>
    <p:sldId id="876" r:id="rId3"/>
    <p:sldId id="860" r:id="rId4"/>
    <p:sldId id="759" r:id="rId5"/>
    <p:sldId id="1108" r:id="rId6"/>
    <p:sldId id="1210" r:id="rId7"/>
    <p:sldId id="1211" r:id="rId8"/>
    <p:sldId id="1212" r:id="rId9"/>
    <p:sldId id="1213" r:id="rId10"/>
    <p:sldId id="1214" r:id="rId11"/>
    <p:sldId id="1215" r:id="rId12"/>
    <p:sldId id="1216" r:id="rId13"/>
    <p:sldId id="1056" r:id="rId14"/>
    <p:sldId id="1217" r:id="rId15"/>
    <p:sldId id="1218" r:id="rId16"/>
    <p:sldId id="1219" r:id="rId17"/>
    <p:sldId id="1103" r:id="rId18"/>
    <p:sldId id="1231" r:id="rId19"/>
    <p:sldId id="1220" r:id="rId20"/>
    <p:sldId id="1221" r:id="rId21"/>
    <p:sldId id="1232" r:id="rId22"/>
    <p:sldId id="1233" r:id="rId23"/>
    <p:sldId id="1234" r:id="rId24"/>
    <p:sldId id="1235" r:id="rId25"/>
    <p:sldId id="1223" r:id="rId26"/>
    <p:sldId id="1237" r:id="rId27"/>
    <p:sldId id="1238" r:id="rId28"/>
    <p:sldId id="1239" r:id="rId29"/>
    <p:sldId id="1224" r:id="rId30"/>
    <p:sldId id="1240" r:id="rId31"/>
    <p:sldId id="291" r:id="rId32"/>
  </p:sldIdLst>
  <p:sldSz cx="9144000" cy="5143500" type="screen16x9"/>
  <p:notesSz cx="6858000" cy="9144000"/>
  <p:custDataLst>
    <p:tags r:id="rId3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719" autoAdjust="0"/>
    <p:restoredTop sz="86438" autoAdjust="0"/>
  </p:normalViewPr>
  <p:slideViewPr>
    <p:cSldViewPr snapToGrid="0" showGuides="1">
      <p:cViewPr varScale="1">
        <p:scale>
          <a:sx n="131" d="100"/>
          <a:sy n="131" d="100"/>
        </p:scale>
        <p:origin x="984" y="12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F3BC03A3-AA4E-470D-85F4-B749C7968B70}"/>
    <pc:docChg chg="delSld">
      <pc:chgData name="Coelho Pedro (ITI-PT)" userId="f866bf1e-0662-4b67-b3f2-98b8c82398ec" providerId="ADAL" clId="{F3BC03A3-AA4E-470D-85F4-B749C7968B70}" dt="2021-11-21T12:30:44.788" v="2" actId="47"/>
      <pc:docMkLst>
        <pc:docMk/>
      </pc:docMkLst>
      <pc:sldChg chg="del">
        <pc:chgData name="Coelho Pedro (ITI-PT)" userId="f866bf1e-0662-4b67-b3f2-98b8c82398ec" providerId="ADAL" clId="{F3BC03A3-AA4E-470D-85F4-B749C7968B70}" dt="2021-11-21T12:30:37.514" v="0" actId="47"/>
        <pc:sldMkLst>
          <pc:docMk/>
          <pc:sldMk cId="2145273728" sldId="763"/>
        </pc:sldMkLst>
      </pc:sldChg>
      <pc:sldChg chg="del">
        <pc:chgData name="Coelho Pedro (ITI-PT)" userId="f866bf1e-0662-4b67-b3f2-98b8c82398ec" providerId="ADAL" clId="{F3BC03A3-AA4E-470D-85F4-B749C7968B70}" dt="2021-11-21T12:30:44.788" v="2" actId="47"/>
        <pc:sldMkLst>
          <pc:docMk/>
          <pc:sldMk cId="3271745509" sldId="874"/>
        </pc:sldMkLst>
      </pc:sldChg>
      <pc:sldChg chg="del">
        <pc:chgData name="Coelho Pedro (ITI-PT)" userId="f866bf1e-0662-4b67-b3f2-98b8c82398ec" providerId="ADAL" clId="{F3BC03A3-AA4E-470D-85F4-B749C7968B70}" dt="2021-11-21T12:30:44.788" v="2" actId="47"/>
        <pc:sldMkLst>
          <pc:docMk/>
          <pc:sldMk cId="410599242" sldId="957"/>
        </pc:sldMkLst>
      </pc:sldChg>
      <pc:sldChg chg="del">
        <pc:chgData name="Coelho Pedro (ITI-PT)" userId="f866bf1e-0662-4b67-b3f2-98b8c82398ec" providerId="ADAL" clId="{F3BC03A3-AA4E-470D-85F4-B749C7968B70}" dt="2021-11-21T12:30:37.514" v="0" actId="47"/>
        <pc:sldMkLst>
          <pc:docMk/>
          <pc:sldMk cId="2109317603" sldId="1052"/>
        </pc:sldMkLst>
      </pc:sldChg>
      <pc:sldChg chg="del">
        <pc:chgData name="Coelho Pedro (ITI-PT)" userId="f866bf1e-0662-4b67-b3f2-98b8c82398ec" providerId="ADAL" clId="{F3BC03A3-AA4E-470D-85F4-B749C7968B70}" dt="2021-11-21T12:30:37.514" v="0" actId="47"/>
        <pc:sldMkLst>
          <pc:docMk/>
          <pc:sldMk cId="34472702" sldId="1053"/>
        </pc:sldMkLst>
      </pc:sldChg>
      <pc:sldChg chg="del">
        <pc:chgData name="Coelho Pedro (ITI-PT)" userId="f866bf1e-0662-4b67-b3f2-98b8c82398ec" providerId="ADAL" clId="{F3BC03A3-AA4E-470D-85F4-B749C7968B70}" dt="2021-11-21T12:30:37.514" v="0" actId="47"/>
        <pc:sldMkLst>
          <pc:docMk/>
          <pc:sldMk cId="1129576059" sldId="1069"/>
        </pc:sldMkLst>
      </pc:sldChg>
      <pc:sldChg chg="del">
        <pc:chgData name="Coelho Pedro (ITI-PT)" userId="f866bf1e-0662-4b67-b3f2-98b8c82398ec" providerId="ADAL" clId="{F3BC03A3-AA4E-470D-85F4-B749C7968B70}" dt="2021-11-21T12:30:44.788" v="2" actId="47"/>
        <pc:sldMkLst>
          <pc:docMk/>
          <pc:sldMk cId="2929623157" sldId="1138"/>
        </pc:sldMkLst>
      </pc:sldChg>
      <pc:sldChg chg="del">
        <pc:chgData name="Coelho Pedro (ITI-PT)" userId="f866bf1e-0662-4b67-b3f2-98b8c82398ec" providerId="ADAL" clId="{F3BC03A3-AA4E-470D-85F4-B749C7968B70}" dt="2021-11-21T12:30:41.855" v="1" actId="47"/>
        <pc:sldMkLst>
          <pc:docMk/>
          <pc:sldMk cId="175850698" sldId="1187"/>
        </pc:sldMkLst>
      </pc:sldChg>
      <pc:sldChg chg="del">
        <pc:chgData name="Coelho Pedro (ITI-PT)" userId="f866bf1e-0662-4b67-b3f2-98b8c82398ec" providerId="ADAL" clId="{F3BC03A3-AA4E-470D-85F4-B749C7968B70}" dt="2021-11-21T12:30:41.855" v="1" actId="47"/>
        <pc:sldMkLst>
          <pc:docMk/>
          <pc:sldMk cId="4215459012" sldId="1189"/>
        </pc:sldMkLst>
      </pc:sldChg>
      <pc:sldChg chg="del">
        <pc:chgData name="Coelho Pedro (ITI-PT)" userId="f866bf1e-0662-4b67-b3f2-98b8c82398ec" providerId="ADAL" clId="{F3BC03A3-AA4E-470D-85F4-B749C7968B70}" dt="2021-11-21T12:30:37.514" v="0" actId="47"/>
        <pc:sldMkLst>
          <pc:docMk/>
          <pc:sldMk cId="2625469064" sldId="1209"/>
        </pc:sldMkLst>
      </pc:sldChg>
      <pc:sldChg chg="del">
        <pc:chgData name="Coelho Pedro (ITI-PT)" userId="f866bf1e-0662-4b67-b3f2-98b8c82398ec" providerId="ADAL" clId="{F3BC03A3-AA4E-470D-85F4-B749C7968B70}" dt="2021-11-21T12:30:41.855" v="1" actId="47"/>
        <pc:sldMkLst>
          <pc:docMk/>
          <pc:sldMk cId="1845808473" sldId="1222"/>
        </pc:sldMkLst>
      </pc:sldChg>
      <pc:sldChg chg="del">
        <pc:chgData name="Coelho Pedro (ITI-PT)" userId="f866bf1e-0662-4b67-b3f2-98b8c82398ec" providerId="ADAL" clId="{F3BC03A3-AA4E-470D-85F4-B749C7968B70}" dt="2021-11-21T12:30:41.855" v="1" actId="47"/>
        <pc:sldMkLst>
          <pc:docMk/>
          <pc:sldMk cId="3709354499" sldId="1225"/>
        </pc:sldMkLst>
      </pc:sldChg>
      <pc:sldChg chg="del">
        <pc:chgData name="Coelho Pedro (ITI-PT)" userId="f866bf1e-0662-4b67-b3f2-98b8c82398ec" providerId="ADAL" clId="{F3BC03A3-AA4E-470D-85F4-B749C7968B70}" dt="2021-11-21T12:30:44.788" v="2" actId="47"/>
        <pc:sldMkLst>
          <pc:docMk/>
          <pc:sldMk cId="881746461" sldId="1226"/>
        </pc:sldMkLst>
      </pc:sldChg>
      <pc:sldChg chg="del">
        <pc:chgData name="Coelho Pedro (ITI-PT)" userId="f866bf1e-0662-4b67-b3f2-98b8c82398ec" providerId="ADAL" clId="{F3BC03A3-AA4E-470D-85F4-B749C7968B70}" dt="2021-11-21T12:30:44.788" v="2" actId="47"/>
        <pc:sldMkLst>
          <pc:docMk/>
          <pc:sldMk cId="1483900258" sldId="1227"/>
        </pc:sldMkLst>
      </pc:sldChg>
      <pc:sldChg chg="del">
        <pc:chgData name="Coelho Pedro (ITI-PT)" userId="f866bf1e-0662-4b67-b3f2-98b8c82398ec" providerId="ADAL" clId="{F3BC03A3-AA4E-470D-85F4-B749C7968B70}" dt="2021-11-21T12:30:44.788" v="2" actId="47"/>
        <pc:sldMkLst>
          <pc:docMk/>
          <pc:sldMk cId="3408201031" sldId="1228"/>
        </pc:sldMkLst>
      </pc:sldChg>
      <pc:sldChg chg="del">
        <pc:chgData name="Coelho Pedro (ITI-PT)" userId="f866bf1e-0662-4b67-b3f2-98b8c82398ec" providerId="ADAL" clId="{F3BC03A3-AA4E-470D-85F4-B749C7968B70}" dt="2021-11-21T12:30:37.514" v="0" actId="47"/>
        <pc:sldMkLst>
          <pc:docMk/>
          <pc:sldMk cId="1702725738" sldId="1229"/>
        </pc:sldMkLst>
      </pc:sldChg>
      <pc:sldChg chg="del">
        <pc:chgData name="Coelho Pedro (ITI-PT)" userId="f866bf1e-0662-4b67-b3f2-98b8c82398ec" providerId="ADAL" clId="{F3BC03A3-AA4E-470D-85F4-B749C7968B70}" dt="2021-11-21T12:30:37.514" v="0" actId="47"/>
        <pc:sldMkLst>
          <pc:docMk/>
          <pc:sldMk cId="3205477531" sldId="1230"/>
        </pc:sldMkLst>
      </pc:sldChg>
    </pc:docChg>
  </pc:docChgLst>
  <pc:docChgLst>
    <pc:chgData name="Coelho Pedro (ITI-PT)" userId="f866bf1e-0662-4b67-b3f2-98b8c82398ec" providerId="ADAL" clId="{DC9D3A9A-88E9-4693-B9B5-E5C83387576A}"/>
    <pc:docChg chg="modSld">
      <pc:chgData name="Coelho Pedro (ITI-PT)" userId="f866bf1e-0662-4b67-b3f2-98b8c82398ec" providerId="ADAL" clId="{DC9D3A9A-88E9-4693-B9B5-E5C83387576A}" dt="2021-11-09T22:32:29.613" v="0" actId="729"/>
      <pc:docMkLst>
        <pc:docMk/>
      </pc:docMkLst>
      <pc:sldChg chg="mod modShow">
        <pc:chgData name="Coelho Pedro (ITI-PT)" userId="f866bf1e-0662-4b67-b3f2-98b8c82398ec" providerId="ADAL" clId="{DC9D3A9A-88E9-4693-B9B5-E5C83387576A}" dt="2021-11-09T22:32:29.613" v="0" actId="729"/>
        <pc:sldMkLst>
          <pc:docMk/>
          <pc:sldMk cId="1874753107" sldId="12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 Single-Area OSPFv2 Concepts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 Single-Area OSPFv2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 – Single-Area OSPFv2</a:t>
            </a:r>
          </a:p>
          <a:p>
            <a:pPr>
              <a:buFontTx/>
              <a:buNone/>
            </a:pPr>
            <a:r>
              <a:rPr lang="en-GB" dirty="0"/>
              <a:t>1.0.2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a:p>
            <a:r>
              <a:rPr lang="en-US" dirty="0"/>
              <a:t>1.1.1 - Introduction to OSPF</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a:p>
            <a:r>
              <a:rPr lang="en-US" dirty="0"/>
              <a:t>1.1.2 - </a:t>
            </a:r>
            <a:r>
              <a:rPr lang="en-US" sz="1200" dirty="0"/>
              <a:t>Components of OSPF</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916386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a:p>
            <a:r>
              <a:rPr lang="en-US" dirty="0"/>
              <a:t>1.1.2 - </a:t>
            </a:r>
            <a:r>
              <a:rPr lang="en-US" sz="1200" dirty="0"/>
              <a:t>Components of OSPF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4045988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a:p>
            <a:r>
              <a:rPr lang="en-US" dirty="0"/>
              <a:t>1.1.2 - </a:t>
            </a:r>
            <a:r>
              <a:rPr lang="en-US" sz="1200" dirty="0"/>
              <a:t>Components of OSPF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4274613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a:p>
            <a:r>
              <a:rPr lang="en-US" dirty="0"/>
              <a:t>1.1.3 - Link-State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901093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a:p>
            <a:r>
              <a:rPr lang="en-US" dirty="0"/>
              <a:t>1.1.4 - Single-Area and Multiarea OSPF</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68285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a:p>
            <a:r>
              <a:rPr lang="en-US" dirty="0"/>
              <a:t>1.1.5 - Multiarea OSPF</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637807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1.1 - OSPF Features and Characteristics</a:t>
            </a:r>
          </a:p>
          <a:p>
            <a:r>
              <a:rPr lang="en-US" dirty="0"/>
              <a:t>1.1.6 - OSPFv3</a:t>
            </a:r>
          </a:p>
          <a:p>
            <a:r>
              <a:rPr lang="en-US" dirty="0"/>
              <a:t>1.1.7 - Check Your Understanding - OSPF Features and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547579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1.2 - OSPF Packets</a:t>
            </a:r>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1.2 - OSPF Packets</a:t>
            </a:r>
          </a:p>
          <a:p>
            <a:r>
              <a:rPr lang="en-US" dirty="0"/>
              <a:t>1.2.2 – Types of OSPF Packets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995586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1.2 - OSPF Packets</a:t>
            </a:r>
          </a:p>
          <a:p>
            <a:r>
              <a:rPr lang="en-US" dirty="0"/>
              <a:t>1.2.3 – </a:t>
            </a:r>
            <a:r>
              <a:rPr lang="en-US" sz="1200" dirty="0"/>
              <a:t>Link-State Updates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898415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1.2 - OSPF Packets</a:t>
            </a:r>
          </a:p>
          <a:p>
            <a:r>
              <a:rPr lang="en-US" dirty="0"/>
              <a:t>1.2.4 – Hello Packet</a:t>
            </a:r>
          </a:p>
          <a:p>
            <a:r>
              <a:rPr lang="en-US" dirty="0"/>
              <a:t>1.2.5 – Check Your Understanding – OSPF Packets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5616520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1.3.2 - </a:t>
            </a:r>
            <a:r>
              <a:rPr lang="en-US" sz="1200" dirty="0"/>
              <a:t>OSPF Operational States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4247418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1.3.2 - </a:t>
            </a:r>
            <a:r>
              <a:rPr lang="en-US" sz="1200" dirty="0"/>
              <a:t>OSPF Operational States (Cont.)</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6069545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1.3.3 - </a:t>
            </a:r>
            <a:r>
              <a:rPr lang="en-US" sz="1200" dirty="0"/>
              <a:t>Establish Neighbor Adjacencies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3153814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1.3.3 - </a:t>
            </a:r>
            <a:r>
              <a:rPr lang="en-US" sz="1200" dirty="0"/>
              <a:t>Establish Neighbor Adjacencies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1640133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1.3.3 - </a:t>
            </a:r>
            <a:r>
              <a:rPr lang="en-US" sz="1200" dirty="0"/>
              <a:t>Establish Neighbor Adjacencies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006847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1.3.3 - </a:t>
            </a:r>
            <a:r>
              <a:rPr lang="en-US" sz="1200" dirty="0"/>
              <a:t>Establish Neighbor Adjacencies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498132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1.3.3 - </a:t>
            </a:r>
            <a:r>
              <a:rPr lang="en-US" sz="1200" dirty="0"/>
              <a:t>Establish Neighbor Adjacencies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451564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1.3.4 - </a:t>
            </a:r>
            <a:r>
              <a:rPr lang="en-US" sz="1200" dirty="0"/>
              <a:t>Synchronizing OSPF Databases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2420605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1.3.3 - </a:t>
            </a:r>
            <a:r>
              <a:rPr lang="en-US" sz="1200" dirty="0"/>
              <a:t>Establish Neighbor Adjacencies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460769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1.3.3 - </a:t>
            </a:r>
            <a:r>
              <a:rPr lang="en-US" sz="1200" dirty="0"/>
              <a:t>Establish Neighbor Adjacencies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2258436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1.3.3 - </a:t>
            </a:r>
            <a:r>
              <a:rPr lang="en-US" sz="1200" dirty="0"/>
              <a:t>Establish Neighbor Adjacencies</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3357066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1.3.5 – </a:t>
            </a:r>
            <a:r>
              <a:rPr lang="en-US" sz="1200" dirty="0"/>
              <a:t>The Need for a DR</a:t>
            </a:r>
            <a:endParaRPr lang="en-US" b="1"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609599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Single-Area OSPFv2 Concepts</a:t>
            </a:r>
          </a:p>
          <a:p>
            <a:r>
              <a:rPr lang="en-US" dirty="0"/>
              <a:t>1.3 - OSPF Operation</a:t>
            </a:r>
          </a:p>
          <a:p>
            <a:r>
              <a:rPr lang="en-US" dirty="0"/>
              <a:t>1.3.6 - </a:t>
            </a:r>
            <a:r>
              <a:rPr lang="en-US" sz="1200" dirty="0"/>
              <a:t>LSA Flooding with a DR</a:t>
            </a:r>
          </a:p>
          <a:p>
            <a:r>
              <a:rPr lang="en-US" sz="1200" b="0" dirty="0"/>
              <a:t>1.3.7 – Check Your Understanding – OSPF Operation</a:t>
            </a:r>
            <a:endParaRPr lang="en-US" b="0"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800594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 Single-Area OSPFv2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836690" cy="902174"/>
          </a:xfrm>
        </p:spPr>
        <p:txBody>
          <a:bodyPr/>
          <a:lstStyle/>
          <a:p>
            <a:pPr>
              <a:spcBef>
                <a:spcPts val="0"/>
              </a:spcBef>
            </a:pPr>
            <a:r>
              <a:rPr lang="en-US" dirty="0">
                <a:solidFill>
                  <a:schemeClr val="accent5">
                    <a:lumMod val="40000"/>
                    <a:lumOff val="60000"/>
                  </a:schemeClr>
                </a:solidFill>
              </a:rPr>
              <a:t>Enterprise Networking, Security, and Automationv7.0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 Single-Area OSPFv2 Concepts</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dirty="0"/>
              <a:t>Single-Area OSPF Concepts</a:t>
            </a:r>
            <a:endParaRPr lang="en-US" altLang="en-US" sz="1400" dirty="0">
              <a:solidFill>
                <a:schemeClr val="tx1"/>
              </a:solidFill>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how single-area OSPF operates in both point-to-point and broadcast multiaccess networks.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503229763"/>
              </p:ext>
            </p:extLst>
          </p:nvPr>
        </p:nvGraphicFramePr>
        <p:xfrm>
          <a:off x="450866" y="1968407"/>
          <a:ext cx="7896830" cy="1447800"/>
        </p:xfrm>
        <a:graphic>
          <a:graphicData uri="http://schemas.openxmlformats.org/drawingml/2006/table">
            <a:tbl>
              <a:tblPr firstRow="1" bandRow="1">
                <a:tableStyleId>{5C22544A-7EE6-4342-B048-85BDC9FD1C3A}</a:tableStyleId>
              </a:tblPr>
              <a:tblGrid>
                <a:gridCol w="2676156">
                  <a:extLst>
                    <a:ext uri="{9D8B030D-6E8A-4147-A177-3AD203B41FA5}">
                      <a16:colId xmlns:a16="http://schemas.microsoft.com/office/drawing/2014/main" val="2579019526"/>
                    </a:ext>
                  </a:extLst>
                </a:gridCol>
                <a:gridCol w="5220674">
                  <a:extLst>
                    <a:ext uri="{9D8B030D-6E8A-4147-A177-3AD203B41FA5}">
                      <a16:colId xmlns:a16="http://schemas.microsoft.com/office/drawing/2014/main" val="1764220437"/>
                    </a:ext>
                  </a:extLst>
                </a:gridCol>
              </a:tblGrid>
              <a:tr h="272843">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b="1">
                          <a:solidFill>
                            <a:schemeClr val="bg1"/>
                          </a:solidFill>
                          <a:effectLst/>
                        </a:rPr>
                        <a:t>OSPF Features and Characteristics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Describe basic OSPF features and characteristics.</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b="1">
                          <a:solidFill>
                            <a:schemeClr val="bg1"/>
                          </a:solidFill>
                          <a:effectLst/>
                        </a:rPr>
                        <a:t>OSPF Packets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Describe the OSPF packet types used in single-area OSPF.</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b="1" dirty="0">
                          <a:solidFill>
                            <a:schemeClr val="bg1"/>
                          </a:solidFill>
                          <a:effectLst/>
                        </a:rPr>
                        <a:t>OSPF Operation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single-area OSPF operates.</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77387"/>
            <a:ext cx="7598042" cy="1340413"/>
          </a:xfrm>
        </p:spPr>
        <p:txBody>
          <a:bodyPr/>
          <a:lstStyle/>
          <a:p>
            <a:r>
              <a:rPr lang="en-US" dirty="0">
                <a:solidFill>
                  <a:schemeClr val="accent5">
                    <a:lumMod val="40000"/>
                    <a:lumOff val="60000"/>
                  </a:schemeClr>
                </a:solidFill>
              </a:rPr>
              <a:t>1.1 OSPF Features and Characteristics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Features and Characteristics</a:t>
            </a:r>
            <a:br>
              <a:rPr lang="en-US" dirty="0"/>
            </a:br>
            <a:r>
              <a:rPr lang="en-US" sz="2400" dirty="0"/>
              <a:t>Introduction to OSPF</a:t>
            </a:r>
          </a:p>
        </p:txBody>
      </p:sp>
      <p:sp>
        <p:nvSpPr>
          <p:cNvPr id="4" name="Content Placeholder 3">
            <a:extLst>
              <a:ext uri="{FF2B5EF4-FFF2-40B4-BE49-F238E27FC236}">
                <a16:creationId xmlns:a16="http://schemas.microsoft.com/office/drawing/2014/main" id="{DD0E5AD1-958B-4947-B0A4-0EAFF13D8826}"/>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OSPF is a link-state routing protocol that was developed as an alternative for the distance vector Routing Information Protocol (RIP). OSPF has significant advantages over RIP in that it offers faster convergence and scales to much larger network implementations.</a:t>
            </a:r>
          </a:p>
          <a:p>
            <a:pPr marL="342900" indent="-342900" algn="l">
              <a:buFont typeface="Arial" panose="020B0604020202020204" pitchFamily="34" charset="0"/>
              <a:buChar char="•"/>
            </a:pPr>
            <a:r>
              <a:rPr lang="en-US" sz="1600" dirty="0">
                <a:solidFill>
                  <a:srgbClr val="000000"/>
                </a:solidFill>
              </a:rPr>
              <a:t>OSPF is a link-state routing protocol that uses the concept of areas. A network administrator can divide the routing domain into distinct areas that help control routing update traffic. </a:t>
            </a:r>
          </a:p>
          <a:p>
            <a:pPr marL="415985" lvl="1" indent="-342900">
              <a:buFont typeface="Arial" panose="020B0604020202020204" pitchFamily="34" charset="0"/>
              <a:buChar char="•"/>
            </a:pPr>
            <a:r>
              <a:rPr lang="en-US" sz="1600" dirty="0">
                <a:solidFill>
                  <a:srgbClr val="000000"/>
                </a:solidFill>
              </a:rPr>
              <a:t>A link is an interface on a router, a network segment that connects two routers, or a stub network such as an Ethernet LAN that is connected to a single router. </a:t>
            </a:r>
          </a:p>
          <a:p>
            <a:pPr marL="415985" lvl="1" indent="-342900">
              <a:buFont typeface="Arial" panose="020B0604020202020204" pitchFamily="34" charset="0"/>
              <a:buChar char="•"/>
            </a:pPr>
            <a:r>
              <a:rPr lang="en-US" sz="1600" dirty="0">
                <a:solidFill>
                  <a:srgbClr val="000000"/>
                </a:solidFill>
              </a:rPr>
              <a:t>Information about the state of a link is known as a link-state. All link-state information includes the network prefix, prefix length, and cost.</a:t>
            </a:r>
          </a:p>
          <a:p>
            <a:pPr marL="342900" indent="-342900" algn="l">
              <a:buFont typeface="Arial" panose="020B0604020202020204" pitchFamily="34" charset="0"/>
              <a:buChar char="•"/>
            </a:pPr>
            <a:r>
              <a:rPr lang="en-US" sz="1600" dirty="0">
                <a:solidFill>
                  <a:srgbClr val="000000"/>
                </a:solidFill>
              </a:rPr>
              <a:t>This module covers basic, single-area OSPF implementations and configurations.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Features and Characteristics</a:t>
            </a:r>
            <a:br>
              <a:rPr lang="en-US" dirty="0"/>
            </a:br>
            <a:r>
              <a:rPr lang="en-US" sz="2400" dirty="0"/>
              <a:t>Components of OSPF</a:t>
            </a:r>
          </a:p>
        </p:txBody>
      </p:sp>
      <p:sp>
        <p:nvSpPr>
          <p:cNvPr id="5" name="Content Placeholder 4">
            <a:extLst>
              <a:ext uri="{FF2B5EF4-FFF2-40B4-BE49-F238E27FC236}">
                <a16:creationId xmlns:a16="http://schemas.microsoft.com/office/drawing/2014/main" id="{B8BC75F8-236A-4F4A-82D3-B7E423740AAE}"/>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All routing protocols share similar components. They all use routing protocol messages to exchange route information. The messages help build data structures, which are then processed using a routing algorithm.</a:t>
            </a:r>
          </a:p>
          <a:p>
            <a:pPr marL="285750" indent="-285750" algn="l">
              <a:buFont typeface="Arial" panose="020B0604020202020204" pitchFamily="34" charset="0"/>
              <a:buChar char="•"/>
            </a:pPr>
            <a:r>
              <a:rPr lang="en-US" sz="1600" dirty="0">
                <a:solidFill>
                  <a:srgbClr val="000000"/>
                </a:solidFill>
              </a:rPr>
              <a:t>Routers running OSPF exchange messages to convey routing information using five types of packets:</a:t>
            </a:r>
          </a:p>
          <a:p>
            <a:pPr marL="415985" lvl="1" indent="-342900">
              <a:buFont typeface="Arial" panose="020B0604020202020204" pitchFamily="34" charset="0"/>
              <a:buChar char="•"/>
            </a:pPr>
            <a:r>
              <a:rPr lang="en-US" dirty="0">
                <a:solidFill>
                  <a:srgbClr val="000000"/>
                </a:solidFill>
              </a:rPr>
              <a:t>Hello packet</a:t>
            </a:r>
          </a:p>
          <a:p>
            <a:pPr marL="415985" lvl="1" indent="-342900">
              <a:buFont typeface="Arial" panose="020B0604020202020204" pitchFamily="34" charset="0"/>
              <a:buChar char="•"/>
            </a:pPr>
            <a:r>
              <a:rPr lang="en-US" dirty="0">
                <a:solidFill>
                  <a:srgbClr val="000000"/>
                </a:solidFill>
              </a:rPr>
              <a:t>Database description packet</a:t>
            </a:r>
          </a:p>
          <a:p>
            <a:pPr marL="415985" lvl="1" indent="-342900">
              <a:buFont typeface="Arial" panose="020B0604020202020204" pitchFamily="34" charset="0"/>
              <a:buChar char="•"/>
            </a:pPr>
            <a:r>
              <a:rPr lang="en-US" dirty="0">
                <a:solidFill>
                  <a:srgbClr val="000000"/>
                </a:solidFill>
              </a:rPr>
              <a:t>Link-state request packet</a:t>
            </a:r>
          </a:p>
          <a:p>
            <a:pPr marL="415985" lvl="1" indent="-342900">
              <a:buFont typeface="Arial" panose="020B0604020202020204" pitchFamily="34" charset="0"/>
              <a:buChar char="•"/>
            </a:pPr>
            <a:r>
              <a:rPr lang="en-US" dirty="0">
                <a:solidFill>
                  <a:srgbClr val="000000"/>
                </a:solidFill>
              </a:rPr>
              <a:t>Link-state update packet</a:t>
            </a:r>
          </a:p>
          <a:p>
            <a:pPr marL="415985" lvl="1" indent="-342900">
              <a:buFont typeface="Arial" panose="020B0604020202020204" pitchFamily="34" charset="0"/>
              <a:buChar char="•"/>
            </a:pPr>
            <a:r>
              <a:rPr lang="en-US" dirty="0">
                <a:solidFill>
                  <a:srgbClr val="000000"/>
                </a:solidFill>
              </a:rPr>
              <a:t>Link-state acknowledgment packet</a:t>
            </a:r>
          </a:p>
          <a:p>
            <a:pPr marL="285750" indent="-285750" algn="l">
              <a:buFont typeface="Arial" panose="020B0604020202020204" pitchFamily="34" charset="0"/>
              <a:buChar char="•"/>
            </a:pPr>
            <a:r>
              <a:rPr lang="en-US" sz="1600" dirty="0">
                <a:solidFill>
                  <a:srgbClr val="000000"/>
                </a:solidFill>
              </a:rPr>
              <a:t>These packets are used to discover neighboring routers and also to exchange routing information to maintain accurate information about the network.</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1111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Features and Characteristics</a:t>
            </a:r>
            <a:br>
              <a:rPr lang="en-US" dirty="0"/>
            </a:br>
            <a:r>
              <a:rPr lang="en-US" sz="2400" dirty="0"/>
              <a:t>Components of OSPF (Cont.)</a:t>
            </a:r>
          </a:p>
        </p:txBody>
      </p:sp>
      <p:sp>
        <p:nvSpPr>
          <p:cNvPr id="4" name="Content Placeholder 3">
            <a:extLst>
              <a:ext uri="{FF2B5EF4-FFF2-40B4-BE49-F238E27FC236}">
                <a16:creationId xmlns:a16="http://schemas.microsoft.com/office/drawing/2014/main" id="{82C8487E-8BE8-D94D-B214-C7B6C1D8DC0E}"/>
              </a:ext>
            </a:extLst>
          </p:cNvPr>
          <p:cNvSpPr>
            <a:spLocks noGrp="1"/>
          </p:cNvSpPr>
          <p:nvPr>
            <p:ph idx="1"/>
          </p:nvPr>
        </p:nvSpPr>
        <p:spPr>
          <a:xfrm>
            <a:off x="474662" y="731838"/>
            <a:ext cx="8280057" cy="506654"/>
          </a:xfrm>
        </p:spPr>
        <p:txBody>
          <a:bodyPr/>
          <a:lstStyle/>
          <a:p>
            <a:pPr marL="0" indent="0" algn="l"/>
            <a:r>
              <a:rPr lang="en-US" sz="1600" dirty="0">
                <a:solidFill>
                  <a:srgbClr val="000000"/>
                </a:solidFill>
              </a:rPr>
              <a:t>OSPF messages are used to create and maintain three OSPF databases, as follows:</a:t>
            </a:r>
          </a:p>
          <a:p>
            <a:pPr marL="0" indent="0" algn="l"/>
            <a:endParaRPr lang="en-US" sz="1600" dirty="0">
              <a:solidFill>
                <a:srgbClr val="000000"/>
              </a:solidFill>
            </a:endParaRPr>
          </a:p>
        </p:txBody>
      </p:sp>
      <p:graphicFrame>
        <p:nvGraphicFramePr>
          <p:cNvPr id="6" name="Table 5">
            <a:extLst>
              <a:ext uri="{FF2B5EF4-FFF2-40B4-BE49-F238E27FC236}">
                <a16:creationId xmlns:a16="http://schemas.microsoft.com/office/drawing/2014/main" id="{C035E0F6-1590-2743-ACDB-974CED43EA7C}"/>
              </a:ext>
            </a:extLst>
          </p:cNvPr>
          <p:cNvGraphicFramePr>
            <a:graphicFrameLocks noGrp="1"/>
          </p:cNvGraphicFramePr>
          <p:nvPr>
            <p:extLst>
              <p:ext uri="{D42A27DB-BD31-4B8C-83A1-F6EECF244321}">
                <p14:modId xmlns:p14="http://schemas.microsoft.com/office/powerpoint/2010/main" val="2199423130"/>
              </p:ext>
            </p:extLst>
          </p:nvPr>
        </p:nvGraphicFramePr>
        <p:xfrm>
          <a:off x="389281" y="1364841"/>
          <a:ext cx="8280057" cy="2831248"/>
        </p:xfrm>
        <a:graphic>
          <a:graphicData uri="http://schemas.openxmlformats.org/drawingml/2006/table">
            <a:tbl>
              <a:tblPr firstRow="1" bandRow="1">
                <a:tableStyleId>{5C22544A-7EE6-4342-B048-85BDC9FD1C3A}</a:tableStyleId>
              </a:tblPr>
              <a:tblGrid>
                <a:gridCol w="987963">
                  <a:extLst>
                    <a:ext uri="{9D8B030D-6E8A-4147-A177-3AD203B41FA5}">
                      <a16:colId xmlns:a16="http://schemas.microsoft.com/office/drawing/2014/main" val="3422732320"/>
                    </a:ext>
                  </a:extLst>
                </a:gridCol>
                <a:gridCol w="993423">
                  <a:extLst>
                    <a:ext uri="{9D8B030D-6E8A-4147-A177-3AD203B41FA5}">
                      <a16:colId xmlns:a16="http://schemas.microsoft.com/office/drawing/2014/main" val="2245351421"/>
                    </a:ext>
                  </a:extLst>
                </a:gridCol>
                <a:gridCol w="6298671">
                  <a:extLst>
                    <a:ext uri="{9D8B030D-6E8A-4147-A177-3AD203B41FA5}">
                      <a16:colId xmlns:a16="http://schemas.microsoft.com/office/drawing/2014/main" val="2633712722"/>
                    </a:ext>
                  </a:extLst>
                </a:gridCol>
              </a:tblGrid>
              <a:tr h="210894">
                <a:tc>
                  <a:txBody>
                    <a:bodyPr/>
                    <a:lstStyle/>
                    <a:p>
                      <a:pPr algn="l" fontAlgn="ctr"/>
                      <a:r>
                        <a:rPr lang="en-US" sz="1200" dirty="0">
                          <a:effectLst/>
                        </a:rPr>
                        <a:t>Database</a:t>
                      </a:r>
                    </a:p>
                  </a:txBody>
                  <a:tcPr marL="47625" marR="47625" marT="47625" marB="47625" anchor="ctr"/>
                </a:tc>
                <a:tc>
                  <a:txBody>
                    <a:bodyPr/>
                    <a:lstStyle/>
                    <a:p>
                      <a:pPr algn="l" fontAlgn="ctr"/>
                      <a:r>
                        <a:rPr lang="en-US" sz="1200">
                          <a:effectLst/>
                        </a:rPr>
                        <a:t>Table</a:t>
                      </a:r>
                    </a:p>
                  </a:txBody>
                  <a:tcPr marL="47625" marR="47625" marT="47625" marB="47625" anchor="ctr"/>
                </a:tc>
                <a:tc>
                  <a:txBody>
                    <a:bodyPr/>
                    <a:lstStyle/>
                    <a:p>
                      <a:pPr algn="l" fontAlgn="ctr"/>
                      <a:r>
                        <a:rPr lang="en-US" sz="1200">
                          <a:effectLst/>
                        </a:rPr>
                        <a:t>Description</a:t>
                      </a:r>
                    </a:p>
                  </a:txBody>
                  <a:tcPr marL="47625" marR="47625" marT="47625" marB="47625" anchor="ctr"/>
                </a:tc>
                <a:extLst>
                  <a:ext uri="{0D108BD9-81ED-4DB2-BD59-A6C34878D82A}">
                    <a16:rowId xmlns:a16="http://schemas.microsoft.com/office/drawing/2014/main" val="2223893512"/>
                  </a:ext>
                </a:extLst>
              </a:tr>
              <a:tr h="790595">
                <a:tc>
                  <a:txBody>
                    <a:bodyPr/>
                    <a:lstStyle/>
                    <a:p>
                      <a:pPr fontAlgn="ctr"/>
                      <a:r>
                        <a:rPr lang="en-US" sz="1200" b="0">
                          <a:effectLst/>
                        </a:rPr>
                        <a:t>Adjacency Database</a:t>
                      </a:r>
                    </a:p>
                  </a:txBody>
                  <a:tcPr marL="47625" marR="47625" marT="47625" marB="47625" anchor="ctr"/>
                </a:tc>
                <a:tc>
                  <a:txBody>
                    <a:bodyPr/>
                    <a:lstStyle/>
                    <a:p>
                      <a:pPr fontAlgn="ctr"/>
                      <a:r>
                        <a:rPr lang="en-US" sz="1200" b="0">
                          <a:effectLst/>
                        </a:rPr>
                        <a:t>Neighbor Table</a:t>
                      </a:r>
                    </a:p>
                  </a:txBody>
                  <a:tcPr marL="47625" marR="47625" marT="47625" marB="47625" anchor="ctr"/>
                </a:tc>
                <a:tc>
                  <a:txBody>
                    <a:bodyPr/>
                    <a:lstStyle/>
                    <a:p>
                      <a:pPr fontAlgn="ctr">
                        <a:buFont typeface="Arial" panose="020B0604020202020204" pitchFamily="34" charset="0"/>
                        <a:buChar char="•"/>
                      </a:pPr>
                      <a:r>
                        <a:rPr lang="en-US" sz="1200" b="0" dirty="0">
                          <a:effectLst/>
                        </a:rPr>
                        <a:t>List of all neighbor routers to which a router has established bi-directional communication.</a:t>
                      </a:r>
                    </a:p>
                    <a:p>
                      <a:pPr fontAlgn="ctr">
                        <a:buFont typeface="Arial" panose="020B0604020202020204" pitchFamily="34" charset="0"/>
                        <a:buChar char="•"/>
                      </a:pPr>
                      <a:r>
                        <a:rPr lang="en-US" sz="1200" b="0" dirty="0">
                          <a:effectLst/>
                        </a:rPr>
                        <a:t>This table is unique for each router.</a:t>
                      </a:r>
                    </a:p>
                    <a:p>
                      <a:pPr rtl="0" fontAlgn="ctr">
                        <a:buFont typeface="Arial" panose="020B0604020202020204" pitchFamily="34" charset="0"/>
                        <a:buChar char="•"/>
                      </a:pPr>
                      <a:r>
                        <a:rPr lang="en-US" sz="1200" b="0" dirty="0">
                          <a:effectLst/>
                        </a:rPr>
                        <a:t>Can be viewed using the </a:t>
                      </a:r>
                      <a:r>
                        <a:rPr lang="en-US" sz="1200" b="1" i="0" dirty="0">
                          <a:effectLst/>
                          <a:latin typeface="Courier New" panose="02070309020205020404" pitchFamily="49" charset="0"/>
                          <a:cs typeface="Courier New" panose="02070309020205020404" pitchFamily="49" charset="0"/>
                        </a:rPr>
                        <a:t>show </a:t>
                      </a:r>
                      <a:r>
                        <a:rPr lang="en-US" sz="1200" b="1" i="0" dirty="0" err="1">
                          <a:effectLst/>
                          <a:latin typeface="Courier New" panose="02070309020205020404" pitchFamily="49" charset="0"/>
                          <a:cs typeface="Courier New" panose="02070309020205020404" pitchFamily="49" charset="0"/>
                        </a:rPr>
                        <a:t>ip</a:t>
                      </a:r>
                      <a:r>
                        <a:rPr lang="en-US" sz="1200" b="1" i="0" dirty="0">
                          <a:effectLst/>
                          <a:latin typeface="Courier New" panose="02070309020205020404" pitchFamily="49" charset="0"/>
                          <a:cs typeface="Courier New" panose="02070309020205020404" pitchFamily="49" charset="0"/>
                        </a:rPr>
                        <a:t> </a:t>
                      </a:r>
                      <a:r>
                        <a:rPr lang="en-US" sz="1200" b="1" i="0" dirty="0" err="1">
                          <a:effectLst/>
                          <a:latin typeface="Courier New" panose="02070309020205020404" pitchFamily="49" charset="0"/>
                          <a:cs typeface="Courier New" panose="02070309020205020404" pitchFamily="49" charset="0"/>
                        </a:rPr>
                        <a:t>ospf</a:t>
                      </a:r>
                      <a:r>
                        <a:rPr lang="en-US" sz="1200" b="1" i="0" dirty="0">
                          <a:effectLst/>
                          <a:latin typeface="Courier New" panose="02070309020205020404" pitchFamily="49" charset="0"/>
                          <a:cs typeface="Courier New" panose="02070309020205020404" pitchFamily="49" charset="0"/>
                        </a:rPr>
                        <a:t> neighbor </a:t>
                      </a:r>
                      <a:r>
                        <a:rPr lang="en-US" sz="1200" b="0" dirty="0">
                          <a:effectLst/>
                        </a:rPr>
                        <a:t>command.</a:t>
                      </a:r>
                    </a:p>
                  </a:txBody>
                  <a:tcPr marL="47625" marR="47625" marT="47625" marB="47625" anchor="ctr"/>
                </a:tc>
                <a:extLst>
                  <a:ext uri="{0D108BD9-81ED-4DB2-BD59-A6C34878D82A}">
                    <a16:rowId xmlns:a16="http://schemas.microsoft.com/office/drawing/2014/main" val="1168337165"/>
                  </a:ext>
                </a:extLst>
              </a:tr>
              <a:tr h="790595">
                <a:tc>
                  <a:txBody>
                    <a:bodyPr/>
                    <a:lstStyle/>
                    <a:p>
                      <a:pPr fontAlgn="ctr"/>
                      <a:r>
                        <a:rPr lang="en-US" sz="1200" b="0">
                          <a:effectLst/>
                        </a:rPr>
                        <a:t>Link-state Database (LSDB)</a:t>
                      </a:r>
                    </a:p>
                  </a:txBody>
                  <a:tcPr marL="47625" marR="47625" marT="47625" marB="47625" anchor="ctr"/>
                </a:tc>
                <a:tc>
                  <a:txBody>
                    <a:bodyPr/>
                    <a:lstStyle/>
                    <a:p>
                      <a:pPr fontAlgn="ctr"/>
                      <a:r>
                        <a:rPr lang="en-US" sz="1200" b="0">
                          <a:effectLst/>
                        </a:rPr>
                        <a:t>Topology Table</a:t>
                      </a:r>
                    </a:p>
                  </a:txBody>
                  <a:tcPr marL="47625" marR="47625" marT="47625" marB="47625" anchor="ctr"/>
                </a:tc>
                <a:tc>
                  <a:txBody>
                    <a:bodyPr/>
                    <a:lstStyle/>
                    <a:p>
                      <a:pPr fontAlgn="ctr">
                        <a:buFont typeface="Arial" panose="020B0604020202020204" pitchFamily="34" charset="0"/>
                        <a:buChar char="•"/>
                      </a:pPr>
                      <a:r>
                        <a:rPr lang="en-US" sz="1200" b="0" dirty="0">
                          <a:effectLst/>
                        </a:rPr>
                        <a:t>Lists information about all other routers in the network.</a:t>
                      </a:r>
                    </a:p>
                    <a:p>
                      <a:pPr fontAlgn="ctr">
                        <a:buFont typeface="Arial" panose="020B0604020202020204" pitchFamily="34" charset="0"/>
                        <a:buChar char="•"/>
                      </a:pPr>
                      <a:r>
                        <a:rPr lang="en-US" sz="1200" b="0" dirty="0">
                          <a:effectLst/>
                        </a:rPr>
                        <a:t>The database represents the network LSDB.</a:t>
                      </a:r>
                    </a:p>
                    <a:p>
                      <a:pPr fontAlgn="ctr">
                        <a:buFont typeface="Arial" panose="020B0604020202020204" pitchFamily="34" charset="0"/>
                        <a:buChar char="•"/>
                      </a:pPr>
                      <a:r>
                        <a:rPr lang="en-US" sz="1200" b="0" dirty="0">
                          <a:effectLst/>
                        </a:rPr>
                        <a:t>All routers within an area have identical LSDB.</a:t>
                      </a:r>
                    </a:p>
                    <a:p>
                      <a:pPr rtl="0" fontAlgn="ctr">
                        <a:buFont typeface="Arial" panose="020B0604020202020204" pitchFamily="34" charset="0"/>
                        <a:buChar char="•"/>
                      </a:pPr>
                      <a:r>
                        <a:rPr lang="en-US" sz="1200" b="0" dirty="0">
                          <a:effectLst/>
                        </a:rPr>
                        <a:t>Can be viewed using the </a:t>
                      </a:r>
                      <a:r>
                        <a:rPr lang="en-US" sz="1200" b="1" i="0" dirty="0">
                          <a:effectLst/>
                          <a:latin typeface="Courier New" panose="02070309020205020404" pitchFamily="49" charset="0"/>
                          <a:cs typeface="Courier New" panose="02070309020205020404" pitchFamily="49" charset="0"/>
                        </a:rPr>
                        <a:t>show </a:t>
                      </a:r>
                      <a:r>
                        <a:rPr lang="en-US" sz="1200" b="1" i="0" dirty="0" err="1">
                          <a:effectLst/>
                          <a:latin typeface="Courier New" panose="02070309020205020404" pitchFamily="49" charset="0"/>
                          <a:cs typeface="Courier New" panose="02070309020205020404" pitchFamily="49" charset="0"/>
                        </a:rPr>
                        <a:t>ip</a:t>
                      </a:r>
                      <a:r>
                        <a:rPr lang="en-US" sz="1200" b="1" i="0" dirty="0">
                          <a:effectLst/>
                          <a:latin typeface="Courier New" panose="02070309020205020404" pitchFamily="49" charset="0"/>
                          <a:cs typeface="Courier New" panose="02070309020205020404" pitchFamily="49" charset="0"/>
                        </a:rPr>
                        <a:t> </a:t>
                      </a:r>
                      <a:r>
                        <a:rPr lang="en-US" sz="1200" b="1" i="0" dirty="0" err="1">
                          <a:effectLst/>
                          <a:latin typeface="Courier New" panose="02070309020205020404" pitchFamily="49" charset="0"/>
                          <a:cs typeface="Courier New" panose="02070309020205020404" pitchFamily="49" charset="0"/>
                        </a:rPr>
                        <a:t>ospf</a:t>
                      </a:r>
                      <a:r>
                        <a:rPr lang="en-US" sz="1200" b="1" i="0" dirty="0">
                          <a:effectLst/>
                          <a:latin typeface="Courier New" panose="02070309020205020404" pitchFamily="49" charset="0"/>
                          <a:cs typeface="Courier New" panose="02070309020205020404" pitchFamily="49" charset="0"/>
                        </a:rPr>
                        <a:t> database </a:t>
                      </a:r>
                      <a:r>
                        <a:rPr lang="en-US" sz="1200" b="0" dirty="0">
                          <a:effectLst/>
                        </a:rPr>
                        <a:t>command.</a:t>
                      </a:r>
                    </a:p>
                  </a:txBody>
                  <a:tcPr marL="47625" marR="47625" marT="47625" marB="47625" anchor="ctr"/>
                </a:tc>
                <a:extLst>
                  <a:ext uri="{0D108BD9-81ED-4DB2-BD59-A6C34878D82A}">
                    <a16:rowId xmlns:a16="http://schemas.microsoft.com/office/drawing/2014/main" val="1226137261"/>
                  </a:ext>
                </a:extLst>
              </a:tr>
              <a:tr h="935753">
                <a:tc>
                  <a:txBody>
                    <a:bodyPr/>
                    <a:lstStyle/>
                    <a:p>
                      <a:pPr fontAlgn="ctr"/>
                      <a:r>
                        <a:rPr lang="en-US" sz="1200" b="0">
                          <a:effectLst/>
                        </a:rPr>
                        <a:t>Forwarding Database</a:t>
                      </a:r>
                    </a:p>
                  </a:txBody>
                  <a:tcPr marL="47625" marR="47625" marT="47625" marB="47625" anchor="ctr"/>
                </a:tc>
                <a:tc>
                  <a:txBody>
                    <a:bodyPr/>
                    <a:lstStyle/>
                    <a:p>
                      <a:pPr fontAlgn="ctr"/>
                      <a:r>
                        <a:rPr lang="en-US" sz="1200" b="0">
                          <a:effectLst/>
                        </a:rPr>
                        <a:t>Routing Table</a:t>
                      </a:r>
                    </a:p>
                  </a:txBody>
                  <a:tcPr marL="47625" marR="47625" marT="47625" marB="47625" anchor="ctr"/>
                </a:tc>
                <a:tc>
                  <a:txBody>
                    <a:bodyPr/>
                    <a:lstStyle/>
                    <a:p>
                      <a:pPr fontAlgn="ctr">
                        <a:buFont typeface="Arial" panose="020B0604020202020204" pitchFamily="34" charset="0"/>
                        <a:buChar char="•"/>
                      </a:pPr>
                      <a:r>
                        <a:rPr lang="en-US" sz="1200" b="0" dirty="0">
                          <a:effectLst/>
                        </a:rPr>
                        <a:t>List of routes generated when an algorithm is run on the link-state database.</a:t>
                      </a:r>
                    </a:p>
                    <a:p>
                      <a:pPr fontAlgn="ctr">
                        <a:buFont typeface="Arial" panose="020B0604020202020204" pitchFamily="34" charset="0"/>
                        <a:buChar char="•"/>
                      </a:pPr>
                      <a:r>
                        <a:rPr lang="en-US" sz="1200" b="0" dirty="0">
                          <a:effectLst/>
                        </a:rPr>
                        <a:t>Each router's routing table is unique and contains information on how and where to send packets to other routers.</a:t>
                      </a:r>
                    </a:p>
                    <a:p>
                      <a:pPr rtl="0" fontAlgn="ctr">
                        <a:buFont typeface="Arial" panose="020B0604020202020204" pitchFamily="34" charset="0"/>
                        <a:buChar char="•"/>
                      </a:pPr>
                      <a:r>
                        <a:rPr lang="en-US" sz="1200" b="0" dirty="0">
                          <a:effectLst/>
                        </a:rPr>
                        <a:t>Can be viewed using the </a:t>
                      </a:r>
                      <a:r>
                        <a:rPr lang="en-US" sz="1200" b="1" i="0" dirty="0">
                          <a:effectLst/>
                          <a:latin typeface="Courier New" panose="02070309020205020404" pitchFamily="49" charset="0"/>
                          <a:cs typeface="Courier New" panose="02070309020205020404" pitchFamily="49" charset="0"/>
                        </a:rPr>
                        <a:t>show </a:t>
                      </a:r>
                      <a:r>
                        <a:rPr lang="en-US" sz="1200" b="1" i="0" dirty="0" err="1">
                          <a:effectLst/>
                          <a:latin typeface="Courier New" panose="02070309020205020404" pitchFamily="49" charset="0"/>
                          <a:cs typeface="Courier New" panose="02070309020205020404" pitchFamily="49" charset="0"/>
                        </a:rPr>
                        <a:t>ip</a:t>
                      </a:r>
                      <a:r>
                        <a:rPr lang="en-US" sz="1200" b="1" i="0" dirty="0">
                          <a:effectLst/>
                          <a:latin typeface="Courier New" panose="02070309020205020404" pitchFamily="49" charset="0"/>
                          <a:cs typeface="Courier New" panose="02070309020205020404" pitchFamily="49" charset="0"/>
                        </a:rPr>
                        <a:t> route </a:t>
                      </a:r>
                      <a:r>
                        <a:rPr lang="en-US" sz="1200" b="0" dirty="0">
                          <a:effectLst/>
                        </a:rPr>
                        <a:t>command.</a:t>
                      </a:r>
                    </a:p>
                  </a:txBody>
                  <a:tcPr marL="47625" marR="47625" marT="47625" marB="47625" anchor="ctr"/>
                </a:tc>
                <a:extLst>
                  <a:ext uri="{0D108BD9-81ED-4DB2-BD59-A6C34878D82A}">
                    <a16:rowId xmlns:a16="http://schemas.microsoft.com/office/drawing/2014/main" val="1793819037"/>
                  </a:ext>
                </a:extLst>
              </a:tr>
            </a:tbl>
          </a:graphicData>
        </a:graphic>
      </p:graphicFrame>
    </p:spTree>
    <p:extLst>
      <p:ext uri="{BB962C8B-B14F-4D97-AF65-F5344CB8AC3E}">
        <p14:creationId xmlns:p14="http://schemas.microsoft.com/office/powerpoint/2010/main" val="279068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Features and Characteristics</a:t>
            </a:r>
            <a:br>
              <a:rPr lang="en-US" dirty="0"/>
            </a:br>
            <a:r>
              <a:rPr lang="en-US" sz="2400" dirty="0"/>
              <a:t>Components of OSPF (Cont.)</a:t>
            </a:r>
          </a:p>
        </p:txBody>
      </p:sp>
      <p:sp>
        <p:nvSpPr>
          <p:cNvPr id="5" name="Content Placeholder 4">
            <a:extLst>
              <a:ext uri="{FF2B5EF4-FFF2-40B4-BE49-F238E27FC236}">
                <a16:creationId xmlns:a16="http://schemas.microsoft.com/office/drawing/2014/main" id="{153383C8-4130-674A-8D44-C5C315B52B8C}"/>
              </a:ext>
            </a:extLst>
          </p:cNvPr>
          <p:cNvSpPr>
            <a:spLocks noGrp="1"/>
          </p:cNvSpPr>
          <p:nvPr>
            <p:ph idx="1"/>
          </p:nvPr>
        </p:nvSpPr>
        <p:spPr>
          <a:xfrm>
            <a:off x="474662" y="731837"/>
            <a:ext cx="8280057" cy="1907191"/>
          </a:xfrm>
        </p:spPr>
        <p:txBody>
          <a:bodyPr/>
          <a:lstStyle/>
          <a:p>
            <a:pPr marL="342900" indent="-342900" algn="l">
              <a:buFont typeface="Arial" panose="020B0604020202020204" pitchFamily="34" charset="0"/>
              <a:buChar char="•"/>
            </a:pPr>
            <a:r>
              <a:rPr lang="en-US" sz="1600" dirty="0">
                <a:solidFill>
                  <a:srgbClr val="000000"/>
                </a:solidFill>
              </a:rPr>
              <a:t>The router builds the topology table using results of calculations based on the Dijkstra shortest-path first (SPF) algorithm. The SPF algorithm is based on the cumulative cost to reach a destination.</a:t>
            </a:r>
          </a:p>
          <a:p>
            <a:pPr marL="342900" indent="-342900" algn="l">
              <a:buFont typeface="Arial" panose="020B0604020202020204" pitchFamily="34" charset="0"/>
              <a:buChar char="•"/>
            </a:pPr>
            <a:r>
              <a:rPr lang="en-US" sz="1600" dirty="0">
                <a:solidFill>
                  <a:srgbClr val="000000"/>
                </a:solidFill>
              </a:rPr>
              <a:t>The SPF algorithm creates an SPF tree by placing each router at the root of the tree and calculating the shortest path to each node. The SPF tree is then used to calculate the best routes. OSPF places the best routes into the forwarding database, which is used to make the routing table.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CC28FC46-44B4-9345-A41F-879539E5341C}"/>
              </a:ext>
            </a:extLst>
          </p:cNvPr>
          <p:cNvPicPr>
            <a:picLocks noChangeAspect="1"/>
          </p:cNvPicPr>
          <p:nvPr/>
        </p:nvPicPr>
        <p:blipFill>
          <a:blip r:embed="rId3"/>
          <a:stretch>
            <a:fillRect/>
          </a:stretch>
        </p:blipFill>
        <p:spPr>
          <a:xfrm>
            <a:off x="2040555" y="2729793"/>
            <a:ext cx="4487124" cy="1503539"/>
          </a:xfrm>
          <a:prstGeom prst="rect">
            <a:avLst/>
          </a:prstGeom>
        </p:spPr>
      </p:pic>
    </p:spTree>
    <p:extLst>
      <p:ext uri="{BB962C8B-B14F-4D97-AF65-F5344CB8AC3E}">
        <p14:creationId xmlns:p14="http://schemas.microsoft.com/office/powerpoint/2010/main" val="3707804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Features and Characteristics</a:t>
            </a:r>
            <a:br>
              <a:rPr lang="en-US" dirty="0"/>
            </a:br>
            <a:r>
              <a:rPr lang="en-US" sz="2400" dirty="0"/>
              <a:t>Link-State Operation</a:t>
            </a:r>
          </a:p>
        </p:txBody>
      </p:sp>
      <p:sp>
        <p:nvSpPr>
          <p:cNvPr id="4" name="Content Placeholder 3">
            <a:extLst>
              <a:ext uri="{FF2B5EF4-FFF2-40B4-BE49-F238E27FC236}">
                <a16:creationId xmlns:a16="http://schemas.microsoft.com/office/drawing/2014/main" id="{18C4A81B-1B6D-2D44-8E46-EED127FF970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maintain routing information, OSPF routers complete a generic link-state routing process to reach a state of convergence. The following are the link-state routing steps that are completed by a router:</a:t>
            </a:r>
          </a:p>
          <a:p>
            <a:pPr marL="342900" indent="-342900" algn="l">
              <a:buFont typeface="+mj-lt"/>
              <a:buAutoNum type="arabicPeriod"/>
            </a:pPr>
            <a:r>
              <a:rPr lang="en-US" sz="1600" dirty="0">
                <a:solidFill>
                  <a:srgbClr val="000000"/>
                </a:solidFill>
              </a:rPr>
              <a:t>Establish Neighbor Adjacencies</a:t>
            </a:r>
          </a:p>
          <a:p>
            <a:pPr marL="342900" indent="-342900" algn="l">
              <a:buFont typeface="+mj-lt"/>
              <a:buAutoNum type="arabicPeriod"/>
            </a:pPr>
            <a:r>
              <a:rPr lang="en-US" sz="1600" dirty="0">
                <a:solidFill>
                  <a:srgbClr val="000000"/>
                </a:solidFill>
              </a:rPr>
              <a:t>Exchange Link-State Advertisements</a:t>
            </a:r>
          </a:p>
          <a:p>
            <a:pPr marL="342900" indent="-342900" algn="l">
              <a:buFont typeface="+mj-lt"/>
              <a:buAutoNum type="arabicPeriod"/>
            </a:pPr>
            <a:r>
              <a:rPr lang="en-US" sz="1600" dirty="0">
                <a:solidFill>
                  <a:srgbClr val="000000"/>
                </a:solidFill>
              </a:rPr>
              <a:t>Build the Link State Database</a:t>
            </a:r>
          </a:p>
          <a:p>
            <a:pPr marL="342900" indent="-342900" algn="l">
              <a:buFont typeface="+mj-lt"/>
              <a:buAutoNum type="arabicPeriod"/>
            </a:pPr>
            <a:r>
              <a:rPr lang="en-US" sz="1600" dirty="0">
                <a:solidFill>
                  <a:srgbClr val="000000"/>
                </a:solidFill>
              </a:rPr>
              <a:t>Execute the SPF Algorithm</a:t>
            </a:r>
          </a:p>
          <a:p>
            <a:pPr marL="342900" indent="-342900" algn="l">
              <a:buFont typeface="+mj-lt"/>
              <a:buAutoNum type="arabicPeriod"/>
            </a:pPr>
            <a:r>
              <a:rPr lang="en-US" sz="1600" dirty="0">
                <a:solidFill>
                  <a:srgbClr val="000000"/>
                </a:solidFill>
              </a:rPr>
              <a:t>Choose the Best Route</a:t>
            </a:r>
          </a:p>
          <a:p>
            <a:pPr marL="0" indent="0" algn="l"/>
            <a:endParaRPr lang="en-US" sz="1600" dirty="0">
              <a:solidFill>
                <a:srgbClr val="000000"/>
              </a:solidFill>
            </a:endParaRPr>
          </a:p>
        </p:txBody>
      </p:sp>
    </p:spTree>
    <p:extLst>
      <p:ext uri="{BB962C8B-B14F-4D97-AF65-F5344CB8AC3E}">
        <p14:creationId xmlns:p14="http://schemas.microsoft.com/office/powerpoint/2010/main" val="2373117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Features and Characteristics</a:t>
            </a:r>
            <a:br>
              <a:rPr lang="en-US" dirty="0"/>
            </a:br>
            <a:r>
              <a:rPr lang="en-US" sz="2400" dirty="0"/>
              <a:t>Single-Area and Multiarea OSPF</a:t>
            </a:r>
          </a:p>
        </p:txBody>
      </p:sp>
      <p:sp>
        <p:nvSpPr>
          <p:cNvPr id="5" name="Content Placeholder 4">
            <a:extLst>
              <a:ext uri="{FF2B5EF4-FFF2-40B4-BE49-F238E27FC236}">
                <a16:creationId xmlns:a16="http://schemas.microsoft.com/office/drawing/2014/main" id="{71662DEC-E6AB-4A4A-8C71-80C68C9D81FB}"/>
              </a:ext>
            </a:extLst>
          </p:cNvPr>
          <p:cNvSpPr>
            <a:spLocks noGrp="1"/>
          </p:cNvSpPr>
          <p:nvPr>
            <p:ph idx="1"/>
          </p:nvPr>
        </p:nvSpPr>
        <p:spPr>
          <a:xfrm>
            <a:off x="474662" y="731838"/>
            <a:ext cx="8280057" cy="2196558"/>
          </a:xfrm>
        </p:spPr>
        <p:txBody>
          <a:bodyPr/>
          <a:lstStyle/>
          <a:p>
            <a:pPr marL="0" indent="0" algn="l"/>
            <a:r>
              <a:rPr lang="en-US" sz="1600" dirty="0">
                <a:solidFill>
                  <a:srgbClr val="000000"/>
                </a:solidFill>
              </a:rPr>
              <a:t>To make OSPF more efficient and scalable, OSPF supports hierarchical routing using areas. An OSPF area is a group of routers that share the same link-state information in their LSDBs. OSPF can be implemented in one of two ways, as follows:</a:t>
            </a:r>
          </a:p>
          <a:p>
            <a:pPr marL="342900" indent="-342900" algn="l">
              <a:buFont typeface="Arial" panose="020B0604020202020204" pitchFamily="34" charset="0"/>
              <a:buChar char="•"/>
            </a:pPr>
            <a:r>
              <a:rPr lang="en-US" sz="1600" b="1" dirty="0">
                <a:solidFill>
                  <a:srgbClr val="000000"/>
                </a:solidFill>
              </a:rPr>
              <a:t>Single-Area OSPF</a:t>
            </a:r>
            <a:r>
              <a:rPr lang="en-US" sz="1600" dirty="0">
                <a:solidFill>
                  <a:srgbClr val="000000"/>
                </a:solidFill>
              </a:rPr>
              <a:t> - All routers are in one area. Best practice is to use area 0.</a:t>
            </a:r>
          </a:p>
          <a:p>
            <a:pPr marL="342900" indent="-342900" algn="l">
              <a:buFont typeface="Arial" panose="020B0604020202020204" pitchFamily="34" charset="0"/>
              <a:buChar char="•"/>
            </a:pPr>
            <a:r>
              <a:rPr lang="en-US" sz="1600" b="1" dirty="0">
                <a:solidFill>
                  <a:srgbClr val="000000"/>
                </a:solidFill>
              </a:rPr>
              <a:t>Multiarea OSPF</a:t>
            </a:r>
            <a:r>
              <a:rPr lang="en-US" sz="1600" dirty="0">
                <a:solidFill>
                  <a:srgbClr val="000000"/>
                </a:solidFill>
              </a:rPr>
              <a:t> - OSPF is implemented using multiple areas, in a hierarchical fashion. All areas must connect to the backbone area (area 0). Routers interconnecting the areas are referred to as Area Border Routers (ABRs).</a:t>
            </a:r>
          </a:p>
          <a:p>
            <a:pPr marL="0" indent="0" algn="l"/>
            <a:r>
              <a:rPr lang="en-US" sz="1600" dirty="0">
                <a:solidFill>
                  <a:srgbClr val="000000"/>
                </a:solidFill>
              </a:rPr>
              <a:t>The focus of this module is on single-area OSPFv2.</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E263B451-9F15-4344-B994-D17D2FE31480}"/>
              </a:ext>
            </a:extLst>
          </p:cNvPr>
          <p:cNvPicPr>
            <a:picLocks noChangeAspect="1"/>
          </p:cNvPicPr>
          <p:nvPr/>
        </p:nvPicPr>
        <p:blipFill>
          <a:blip r:embed="rId3"/>
          <a:stretch>
            <a:fillRect/>
          </a:stretch>
        </p:blipFill>
        <p:spPr>
          <a:xfrm>
            <a:off x="1933728" y="3102001"/>
            <a:ext cx="5276543" cy="1522386"/>
          </a:xfrm>
          <a:prstGeom prst="rect">
            <a:avLst/>
          </a:prstGeom>
        </p:spPr>
      </p:pic>
    </p:spTree>
    <p:extLst>
      <p:ext uri="{BB962C8B-B14F-4D97-AF65-F5344CB8AC3E}">
        <p14:creationId xmlns:p14="http://schemas.microsoft.com/office/powerpoint/2010/main" val="1356058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Features and Characteristics</a:t>
            </a:r>
            <a:br>
              <a:rPr lang="en-US" dirty="0"/>
            </a:br>
            <a:r>
              <a:rPr lang="en-US" sz="2400" dirty="0"/>
              <a:t>Multiarea OSPF</a:t>
            </a:r>
          </a:p>
        </p:txBody>
      </p:sp>
      <p:sp>
        <p:nvSpPr>
          <p:cNvPr id="4" name="Content Placeholder 3">
            <a:extLst>
              <a:ext uri="{FF2B5EF4-FFF2-40B4-BE49-F238E27FC236}">
                <a16:creationId xmlns:a16="http://schemas.microsoft.com/office/drawing/2014/main" id="{551528B5-BD96-5248-BA8C-DFCAE1E87940}"/>
              </a:ext>
            </a:extLst>
          </p:cNvPr>
          <p:cNvSpPr>
            <a:spLocks noGrp="1"/>
          </p:cNvSpPr>
          <p:nvPr>
            <p:ph idx="1"/>
          </p:nvPr>
        </p:nvSpPr>
        <p:spPr>
          <a:xfrm>
            <a:off x="474662" y="731837"/>
            <a:ext cx="8280057" cy="2739801"/>
          </a:xfrm>
        </p:spPr>
        <p:txBody>
          <a:bodyPr/>
          <a:lstStyle/>
          <a:p>
            <a:pPr marL="285750" indent="-285750" algn="l">
              <a:buFont typeface="Arial" panose="020B0604020202020204" pitchFamily="34" charset="0"/>
              <a:buChar char="•"/>
            </a:pPr>
            <a:r>
              <a:rPr lang="en-US" sz="1600" dirty="0">
                <a:solidFill>
                  <a:srgbClr val="000000"/>
                </a:solidFill>
              </a:rPr>
              <a:t>The hierarchical-topology design options with multiarea OSPF can offer the following advantages.</a:t>
            </a:r>
          </a:p>
          <a:p>
            <a:pPr marL="358835" lvl="1" indent="-285750">
              <a:buFont typeface="Arial" panose="020B0604020202020204" pitchFamily="34" charset="0"/>
              <a:buChar char="•"/>
            </a:pPr>
            <a:r>
              <a:rPr lang="en-US" sz="1600" b="1" dirty="0">
                <a:solidFill>
                  <a:srgbClr val="000000"/>
                </a:solidFill>
              </a:rPr>
              <a:t>Smaller routing tables</a:t>
            </a:r>
            <a:r>
              <a:rPr lang="en-US" sz="1600" dirty="0">
                <a:solidFill>
                  <a:srgbClr val="000000"/>
                </a:solidFill>
              </a:rPr>
              <a:t> - Tables are smaller because there are fewer routing table entries. This is because network addresses can be summarized between areas. Route summarization is not enabled by default.</a:t>
            </a:r>
          </a:p>
          <a:p>
            <a:pPr marL="358835" lvl="1" indent="-285750">
              <a:buFont typeface="Arial" panose="020B0604020202020204" pitchFamily="34" charset="0"/>
              <a:buChar char="•"/>
            </a:pPr>
            <a:r>
              <a:rPr lang="en-US" sz="1600" b="1" dirty="0">
                <a:solidFill>
                  <a:srgbClr val="000000"/>
                </a:solidFill>
              </a:rPr>
              <a:t>Reduced link-state update overhead</a:t>
            </a:r>
            <a:r>
              <a:rPr lang="en-US" sz="1600" dirty="0">
                <a:solidFill>
                  <a:srgbClr val="000000"/>
                </a:solidFill>
              </a:rPr>
              <a:t> - Designing multiarea OSPF with smaller areas minimizes processing and memory requirements.</a:t>
            </a:r>
          </a:p>
          <a:p>
            <a:pPr marL="358835" lvl="1" indent="-285750">
              <a:buFont typeface="Arial" panose="020B0604020202020204" pitchFamily="34" charset="0"/>
              <a:buChar char="•"/>
            </a:pPr>
            <a:r>
              <a:rPr lang="en-US" sz="1600" b="1" dirty="0">
                <a:solidFill>
                  <a:srgbClr val="000000"/>
                </a:solidFill>
              </a:rPr>
              <a:t>Reduced frequency of SPF calculations</a:t>
            </a:r>
            <a:r>
              <a:rPr lang="en-US" sz="1600" dirty="0">
                <a:solidFill>
                  <a:srgbClr val="000000"/>
                </a:solidFill>
              </a:rPr>
              <a:t> -– Multiarea OSPF localize the impact of a topology change within an area. For instance, it minimizes routing update impact because LSA flooding stops at the area boundary.</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D151DFD1-C780-4728-9C74-2D8F8237C46A}"/>
              </a:ext>
            </a:extLst>
          </p:cNvPr>
          <p:cNvPicPr>
            <a:picLocks noChangeAspect="1"/>
          </p:cNvPicPr>
          <p:nvPr/>
        </p:nvPicPr>
        <p:blipFill>
          <a:blip r:embed="rId3"/>
          <a:stretch>
            <a:fillRect/>
          </a:stretch>
        </p:blipFill>
        <p:spPr>
          <a:xfrm>
            <a:off x="2012494" y="3564238"/>
            <a:ext cx="3336515" cy="1239399"/>
          </a:xfrm>
          <a:prstGeom prst="rect">
            <a:avLst/>
          </a:prstGeom>
        </p:spPr>
      </p:pic>
    </p:spTree>
    <p:extLst>
      <p:ext uri="{BB962C8B-B14F-4D97-AF65-F5344CB8AC3E}">
        <p14:creationId xmlns:p14="http://schemas.microsoft.com/office/powerpoint/2010/main" val="3779338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Features and Characteristics</a:t>
            </a:r>
            <a:br>
              <a:rPr lang="en-US" dirty="0"/>
            </a:br>
            <a:r>
              <a:rPr lang="en-US" sz="2400" dirty="0"/>
              <a:t>OSPFv3</a:t>
            </a:r>
          </a:p>
        </p:txBody>
      </p:sp>
      <p:sp>
        <p:nvSpPr>
          <p:cNvPr id="5" name="Content Placeholder 4">
            <a:extLst>
              <a:ext uri="{FF2B5EF4-FFF2-40B4-BE49-F238E27FC236}">
                <a16:creationId xmlns:a16="http://schemas.microsoft.com/office/drawing/2014/main" id="{C61DCC6F-93E7-9746-996A-D15CF20AB95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OSPFv3 is the OSPFv2 equivalent for exchanging IPv6 prefixes. OSPFv3 exchanges routing information to populate the IPv6 routing table with remote prefixes.</a:t>
            </a:r>
          </a:p>
          <a:p>
            <a:pPr marL="415985" lvl="1" indent="-342900">
              <a:buFont typeface="Arial" panose="020B0604020202020204" pitchFamily="34" charset="0"/>
              <a:buChar char="•"/>
            </a:pPr>
            <a:r>
              <a:rPr lang="en-US" sz="1600" b="1" dirty="0">
                <a:solidFill>
                  <a:srgbClr val="000000"/>
                </a:solidFill>
              </a:rPr>
              <a:t>Note</a:t>
            </a:r>
            <a:r>
              <a:rPr lang="en-US" sz="1600" dirty="0">
                <a:solidFill>
                  <a:srgbClr val="000000"/>
                </a:solidFill>
              </a:rPr>
              <a:t>: With the OSPFv3 Address Families feature, OSPFv3 includes support for both IPv4 and IPv6. OSPF Address Families is beyond the scope of this curriculum.</a:t>
            </a:r>
          </a:p>
          <a:p>
            <a:pPr marL="342900" indent="-342900" algn="l">
              <a:buFont typeface="Arial" panose="020B0604020202020204" pitchFamily="34" charset="0"/>
              <a:buChar char="•"/>
            </a:pPr>
            <a:r>
              <a:rPr lang="en-US" sz="1600" dirty="0">
                <a:solidFill>
                  <a:srgbClr val="000000"/>
                </a:solidFill>
              </a:rPr>
              <a:t>OSPFv3 has the same functionality as OSPFv2, but uses IPv6 as the network layer transport, communicating with OSPFv3 peers and advertising IPv6 routes. OSPFv3 also uses the SPF algorithm as the computation engine to determine the best paths throughout the routing domain.</a:t>
            </a:r>
          </a:p>
          <a:p>
            <a:pPr marL="342900" indent="-342900" algn="l">
              <a:buFont typeface="Arial" panose="020B0604020202020204" pitchFamily="34" charset="0"/>
              <a:buChar char="•"/>
            </a:pPr>
            <a:r>
              <a:rPr lang="en-US" sz="1600" dirty="0">
                <a:solidFill>
                  <a:srgbClr val="000000"/>
                </a:solidFill>
              </a:rPr>
              <a:t>OSPFv3 has separate processes from its IPv4 counterpart. The processes and operations are basically the same as in the IPv4 routing protocol, but run independently. </a:t>
            </a:r>
          </a:p>
        </p:txBody>
      </p:sp>
    </p:spTree>
    <p:extLst>
      <p:ext uri="{BB962C8B-B14F-4D97-AF65-F5344CB8AC3E}">
        <p14:creationId xmlns:p14="http://schemas.microsoft.com/office/powerpoint/2010/main" val="1384687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 OSPF Packets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Packets</a:t>
            </a:r>
            <a:br>
              <a:rPr lang="en-US" dirty="0"/>
            </a:br>
            <a:r>
              <a:rPr lang="en-US" sz="2400" dirty="0"/>
              <a:t>Types of OSPF Packets</a:t>
            </a:r>
          </a:p>
        </p:txBody>
      </p:sp>
      <p:sp>
        <p:nvSpPr>
          <p:cNvPr id="5" name="Content Placeholder 4">
            <a:extLst>
              <a:ext uri="{FF2B5EF4-FFF2-40B4-BE49-F238E27FC236}">
                <a16:creationId xmlns:a16="http://schemas.microsoft.com/office/drawing/2014/main" id="{694E527F-BF98-4A2C-875A-0B7869C1788C}"/>
              </a:ext>
            </a:extLst>
          </p:cNvPr>
          <p:cNvSpPr>
            <a:spLocks noGrp="1"/>
          </p:cNvSpPr>
          <p:nvPr>
            <p:ph idx="1"/>
          </p:nvPr>
        </p:nvSpPr>
        <p:spPr>
          <a:xfrm>
            <a:off x="474662" y="731838"/>
            <a:ext cx="8280057" cy="645550"/>
          </a:xfrm>
        </p:spPr>
        <p:txBody>
          <a:bodyPr/>
          <a:lstStyle/>
          <a:p>
            <a:pPr marL="0" indent="0" algn="l"/>
            <a:r>
              <a:rPr lang="en-US" sz="1600" dirty="0">
                <a:solidFill>
                  <a:srgbClr val="000000"/>
                </a:solidFill>
              </a:rPr>
              <a:t>The table summarizes the five different types of Link State Packets (LSPs) used by OSPFv2. OSPFv3 has similar packet types.</a:t>
            </a:r>
          </a:p>
        </p:txBody>
      </p:sp>
      <p:graphicFrame>
        <p:nvGraphicFramePr>
          <p:cNvPr id="6" name="Table 6">
            <a:extLst>
              <a:ext uri="{FF2B5EF4-FFF2-40B4-BE49-F238E27FC236}">
                <a16:creationId xmlns:a16="http://schemas.microsoft.com/office/drawing/2014/main" id="{0FDFA63D-A8CB-4C1C-BF6C-D20F28D63967}"/>
              </a:ext>
            </a:extLst>
          </p:cNvPr>
          <p:cNvGraphicFramePr>
            <a:graphicFrameLocks noGrp="1"/>
          </p:cNvGraphicFramePr>
          <p:nvPr>
            <p:extLst>
              <p:ext uri="{D42A27DB-BD31-4B8C-83A1-F6EECF244321}">
                <p14:modId xmlns:p14="http://schemas.microsoft.com/office/powerpoint/2010/main" val="2476414893"/>
              </p:ext>
            </p:extLst>
          </p:nvPr>
        </p:nvGraphicFramePr>
        <p:xfrm>
          <a:off x="474661" y="1463674"/>
          <a:ext cx="8379971" cy="2225040"/>
        </p:xfrm>
        <a:graphic>
          <a:graphicData uri="http://schemas.openxmlformats.org/drawingml/2006/table">
            <a:tbl>
              <a:tblPr firstRow="1" bandRow="1">
                <a:tableStyleId>{5C22544A-7EE6-4342-B048-85BDC9FD1C3A}</a:tableStyleId>
              </a:tblPr>
              <a:tblGrid>
                <a:gridCol w="570589">
                  <a:extLst>
                    <a:ext uri="{9D8B030D-6E8A-4147-A177-3AD203B41FA5}">
                      <a16:colId xmlns:a16="http://schemas.microsoft.com/office/drawing/2014/main" val="437161920"/>
                    </a:ext>
                  </a:extLst>
                </a:gridCol>
                <a:gridCol w="3029039">
                  <a:extLst>
                    <a:ext uri="{9D8B030D-6E8A-4147-A177-3AD203B41FA5}">
                      <a16:colId xmlns:a16="http://schemas.microsoft.com/office/drawing/2014/main" val="383234256"/>
                    </a:ext>
                  </a:extLst>
                </a:gridCol>
                <a:gridCol w="4780343">
                  <a:extLst>
                    <a:ext uri="{9D8B030D-6E8A-4147-A177-3AD203B41FA5}">
                      <a16:colId xmlns:a16="http://schemas.microsoft.com/office/drawing/2014/main" val="642217950"/>
                    </a:ext>
                  </a:extLst>
                </a:gridCol>
              </a:tblGrid>
              <a:tr h="370840">
                <a:tc>
                  <a:txBody>
                    <a:bodyPr/>
                    <a:lstStyle/>
                    <a:p>
                      <a:pPr algn="l" fontAlgn="ctr"/>
                      <a:r>
                        <a:rPr lang="en-US" b="1" dirty="0">
                          <a:effectLst/>
                        </a:rPr>
                        <a:t>Type</a:t>
                      </a:r>
                      <a:endParaRPr lang="en-US" dirty="0">
                        <a:effectLst/>
                      </a:endParaRPr>
                    </a:p>
                  </a:txBody>
                  <a:tcPr marL="47625" marR="47625" marT="47625" marB="47625" anchor="ctr"/>
                </a:tc>
                <a:tc>
                  <a:txBody>
                    <a:bodyPr/>
                    <a:lstStyle/>
                    <a:p>
                      <a:pPr algn="l" fontAlgn="ctr"/>
                      <a:r>
                        <a:rPr lang="en-US" b="1">
                          <a:effectLst/>
                        </a:rPr>
                        <a:t>Packet Name</a:t>
                      </a:r>
                      <a:endParaRPr lang="en-US">
                        <a:effectLst/>
                      </a:endParaRPr>
                    </a:p>
                  </a:txBody>
                  <a:tcPr marL="47625" marR="47625" marT="47625" marB="47625" anchor="ctr"/>
                </a:tc>
                <a:tc>
                  <a:txBody>
                    <a:bodyPr/>
                    <a:lstStyle/>
                    <a:p>
                      <a:pPr algn="l" fontAlgn="ctr"/>
                      <a:r>
                        <a:rPr lang="en-US" b="1" dirty="0">
                          <a:effectLst/>
                        </a:rPr>
                        <a:t>Description</a:t>
                      </a:r>
                      <a:endParaRPr lang="en-US" dirty="0">
                        <a:effectLst/>
                      </a:endParaRPr>
                    </a:p>
                  </a:txBody>
                  <a:tcPr marL="47625" marR="47625" marT="47625" marB="47625" anchor="ctr"/>
                </a:tc>
                <a:extLst>
                  <a:ext uri="{0D108BD9-81ED-4DB2-BD59-A6C34878D82A}">
                    <a16:rowId xmlns:a16="http://schemas.microsoft.com/office/drawing/2014/main" val="827652468"/>
                  </a:ext>
                </a:extLst>
              </a:tr>
              <a:tr h="370840">
                <a:tc>
                  <a:txBody>
                    <a:bodyPr/>
                    <a:lstStyle/>
                    <a:p>
                      <a:pPr fontAlgn="ctr"/>
                      <a:r>
                        <a:rPr lang="en-US" b="0">
                          <a:effectLst/>
                        </a:rPr>
                        <a:t>1</a:t>
                      </a:r>
                    </a:p>
                  </a:txBody>
                  <a:tcPr marL="47625" marR="47625" marT="47625" marB="47625" anchor="ctr"/>
                </a:tc>
                <a:tc>
                  <a:txBody>
                    <a:bodyPr/>
                    <a:lstStyle/>
                    <a:p>
                      <a:pPr fontAlgn="ctr"/>
                      <a:r>
                        <a:rPr lang="en-US" b="0" dirty="0">
                          <a:effectLst/>
                        </a:rPr>
                        <a:t>Hello</a:t>
                      </a:r>
                    </a:p>
                  </a:txBody>
                  <a:tcPr marL="47625" marR="47625" marT="47625" marB="47625" anchor="ctr"/>
                </a:tc>
                <a:tc>
                  <a:txBody>
                    <a:bodyPr/>
                    <a:lstStyle/>
                    <a:p>
                      <a:pPr fontAlgn="ctr"/>
                      <a:r>
                        <a:rPr lang="en-US" b="0">
                          <a:effectLst/>
                        </a:rPr>
                        <a:t>Discovers neighbors and builds adjacencies between them</a:t>
                      </a:r>
                    </a:p>
                  </a:txBody>
                  <a:tcPr marL="47625" marR="47625" marT="47625" marB="47625" anchor="ctr"/>
                </a:tc>
                <a:extLst>
                  <a:ext uri="{0D108BD9-81ED-4DB2-BD59-A6C34878D82A}">
                    <a16:rowId xmlns:a16="http://schemas.microsoft.com/office/drawing/2014/main" val="4133330987"/>
                  </a:ext>
                </a:extLst>
              </a:tr>
              <a:tr h="370840">
                <a:tc>
                  <a:txBody>
                    <a:bodyPr/>
                    <a:lstStyle/>
                    <a:p>
                      <a:pPr fontAlgn="ctr"/>
                      <a:r>
                        <a:rPr lang="en-US" b="0">
                          <a:effectLst/>
                        </a:rPr>
                        <a:t>2</a:t>
                      </a:r>
                    </a:p>
                  </a:txBody>
                  <a:tcPr marL="47625" marR="47625" marT="47625" marB="47625" anchor="ctr"/>
                </a:tc>
                <a:tc>
                  <a:txBody>
                    <a:bodyPr/>
                    <a:lstStyle/>
                    <a:p>
                      <a:pPr fontAlgn="ctr"/>
                      <a:r>
                        <a:rPr lang="en-US" b="0">
                          <a:effectLst/>
                        </a:rPr>
                        <a:t>Database Description (DBD)</a:t>
                      </a:r>
                    </a:p>
                  </a:txBody>
                  <a:tcPr marL="47625" marR="47625" marT="47625" marB="47625" anchor="ctr"/>
                </a:tc>
                <a:tc>
                  <a:txBody>
                    <a:bodyPr/>
                    <a:lstStyle/>
                    <a:p>
                      <a:pPr fontAlgn="ctr"/>
                      <a:r>
                        <a:rPr lang="en-US" b="0">
                          <a:effectLst/>
                        </a:rPr>
                        <a:t>Checks for database synchronization between routers</a:t>
                      </a:r>
                    </a:p>
                  </a:txBody>
                  <a:tcPr marL="47625" marR="47625" marT="47625" marB="47625" anchor="ctr"/>
                </a:tc>
                <a:extLst>
                  <a:ext uri="{0D108BD9-81ED-4DB2-BD59-A6C34878D82A}">
                    <a16:rowId xmlns:a16="http://schemas.microsoft.com/office/drawing/2014/main" val="2426783081"/>
                  </a:ext>
                </a:extLst>
              </a:tr>
              <a:tr h="370840">
                <a:tc>
                  <a:txBody>
                    <a:bodyPr/>
                    <a:lstStyle/>
                    <a:p>
                      <a:pPr fontAlgn="ctr"/>
                      <a:r>
                        <a:rPr lang="en-US" b="0">
                          <a:effectLst/>
                        </a:rPr>
                        <a:t>3</a:t>
                      </a:r>
                    </a:p>
                  </a:txBody>
                  <a:tcPr marL="47625" marR="47625" marT="47625" marB="47625" anchor="ctr"/>
                </a:tc>
                <a:tc>
                  <a:txBody>
                    <a:bodyPr/>
                    <a:lstStyle/>
                    <a:p>
                      <a:pPr fontAlgn="ctr"/>
                      <a:r>
                        <a:rPr lang="en-US" b="0">
                          <a:effectLst/>
                        </a:rPr>
                        <a:t>Link-State Request (LSR)</a:t>
                      </a:r>
                    </a:p>
                  </a:txBody>
                  <a:tcPr marL="47625" marR="47625" marT="47625" marB="47625" anchor="ctr"/>
                </a:tc>
                <a:tc>
                  <a:txBody>
                    <a:bodyPr/>
                    <a:lstStyle/>
                    <a:p>
                      <a:pPr fontAlgn="ctr"/>
                      <a:r>
                        <a:rPr lang="en-US" b="0">
                          <a:effectLst/>
                        </a:rPr>
                        <a:t>Requests specific link-state records from router to router</a:t>
                      </a:r>
                    </a:p>
                  </a:txBody>
                  <a:tcPr marL="47625" marR="47625" marT="47625" marB="47625" anchor="ctr"/>
                </a:tc>
                <a:extLst>
                  <a:ext uri="{0D108BD9-81ED-4DB2-BD59-A6C34878D82A}">
                    <a16:rowId xmlns:a16="http://schemas.microsoft.com/office/drawing/2014/main" val="2444553229"/>
                  </a:ext>
                </a:extLst>
              </a:tr>
              <a:tr h="370840">
                <a:tc>
                  <a:txBody>
                    <a:bodyPr/>
                    <a:lstStyle/>
                    <a:p>
                      <a:pPr fontAlgn="ctr"/>
                      <a:r>
                        <a:rPr lang="en-US" b="0">
                          <a:effectLst/>
                        </a:rPr>
                        <a:t>4</a:t>
                      </a:r>
                    </a:p>
                  </a:txBody>
                  <a:tcPr marL="47625" marR="47625" marT="47625" marB="47625" anchor="ctr"/>
                </a:tc>
                <a:tc>
                  <a:txBody>
                    <a:bodyPr/>
                    <a:lstStyle/>
                    <a:p>
                      <a:pPr fontAlgn="ctr"/>
                      <a:r>
                        <a:rPr lang="en-US" b="0">
                          <a:effectLst/>
                        </a:rPr>
                        <a:t>Link-State Update (LSU)</a:t>
                      </a:r>
                    </a:p>
                  </a:txBody>
                  <a:tcPr marL="47625" marR="47625" marT="47625" marB="47625" anchor="ctr"/>
                </a:tc>
                <a:tc>
                  <a:txBody>
                    <a:bodyPr/>
                    <a:lstStyle/>
                    <a:p>
                      <a:pPr fontAlgn="ctr"/>
                      <a:r>
                        <a:rPr lang="en-US" b="0" dirty="0">
                          <a:effectLst/>
                        </a:rPr>
                        <a:t>Sends specifically requested link-state records</a:t>
                      </a:r>
                    </a:p>
                  </a:txBody>
                  <a:tcPr marL="47625" marR="47625" marT="47625" marB="47625" anchor="ctr"/>
                </a:tc>
                <a:extLst>
                  <a:ext uri="{0D108BD9-81ED-4DB2-BD59-A6C34878D82A}">
                    <a16:rowId xmlns:a16="http://schemas.microsoft.com/office/drawing/2014/main" val="652161687"/>
                  </a:ext>
                </a:extLst>
              </a:tr>
              <a:tr h="370840">
                <a:tc>
                  <a:txBody>
                    <a:bodyPr/>
                    <a:lstStyle/>
                    <a:p>
                      <a:pPr fontAlgn="ctr"/>
                      <a:r>
                        <a:rPr lang="en-US" b="0">
                          <a:effectLst/>
                        </a:rPr>
                        <a:t>5</a:t>
                      </a:r>
                    </a:p>
                  </a:txBody>
                  <a:tcPr marL="47625" marR="47625" marT="47625" marB="47625" anchor="ctr"/>
                </a:tc>
                <a:tc>
                  <a:txBody>
                    <a:bodyPr/>
                    <a:lstStyle/>
                    <a:p>
                      <a:pPr fontAlgn="ctr"/>
                      <a:r>
                        <a:rPr lang="en-US" b="0">
                          <a:effectLst/>
                        </a:rPr>
                        <a:t>Link-State Acknowledgment (LSAck)</a:t>
                      </a:r>
                    </a:p>
                  </a:txBody>
                  <a:tcPr marL="47625" marR="47625" marT="47625" marB="47625" anchor="ctr"/>
                </a:tc>
                <a:tc>
                  <a:txBody>
                    <a:bodyPr/>
                    <a:lstStyle/>
                    <a:p>
                      <a:pPr fontAlgn="ctr"/>
                      <a:r>
                        <a:rPr lang="en-US" b="0" dirty="0">
                          <a:effectLst/>
                        </a:rPr>
                        <a:t>Acknowledges the other packet types</a:t>
                      </a:r>
                    </a:p>
                  </a:txBody>
                  <a:tcPr marL="47625" marR="47625" marT="47625" marB="47625" anchor="ctr"/>
                </a:tc>
                <a:extLst>
                  <a:ext uri="{0D108BD9-81ED-4DB2-BD59-A6C34878D82A}">
                    <a16:rowId xmlns:a16="http://schemas.microsoft.com/office/drawing/2014/main" val="1835698426"/>
                  </a:ext>
                </a:extLst>
              </a:tr>
            </a:tbl>
          </a:graphicData>
        </a:graphic>
      </p:graphicFrame>
    </p:spTree>
    <p:extLst>
      <p:ext uri="{BB962C8B-B14F-4D97-AF65-F5344CB8AC3E}">
        <p14:creationId xmlns:p14="http://schemas.microsoft.com/office/powerpoint/2010/main" val="717879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Packets</a:t>
            </a:r>
            <a:br>
              <a:rPr lang="en-US" dirty="0"/>
            </a:br>
            <a:r>
              <a:rPr lang="en-US" sz="2400" dirty="0"/>
              <a:t>Link-State Updates</a:t>
            </a:r>
          </a:p>
        </p:txBody>
      </p:sp>
      <p:sp>
        <p:nvSpPr>
          <p:cNvPr id="4" name="Content Placeholder 3">
            <a:extLst>
              <a:ext uri="{FF2B5EF4-FFF2-40B4-BE49-F238E27FC236}">
                <a16:creationId xmlns:a16="http://schemas.microsoft.com/office/drawing/2014/main" id="{7B548C0F-FA3A-4774-960B-6CE4F14D8E02}"/>
              </a:ext>
            </a:extLst>
          </p:cNvPr>
          <p:cNvSpPr>
            <a:spLocks noGrp="1"/>
          </p:cNvSpPr>
          <p:nvPr>
            <p:ph idx="1"/>
          </p:nvPr>
        </p:nvSpPr>
        <p:spPr>
          <a:xfrm>
            <a:off x="474662" y="731837"/>
            <a:ext cx="3608607" cy="3689897"/>
          </a:xfrm>
        </p:spPr>
        <p:txBody>
          <a:bodyPr/>
          <a:lstStyle/>
          <a:p>
            <a:pPr marL="342900" indent="-342900" algn="l">
              <a:buFont typeface="Arial" panose="020B0604020202020204" pitchFamily="34" charset="0"/>
              <a:buChar char="•"/>
            </a:pPr>
            <a:r>
              <a:rPr lang="en-US" sz="1600" dirty="0">
                <a:solidFill>
                  <a:srgbClr val="000000"/>
                </a:solidFill>
              </a:rPr>
              <a:t>LSUs are also used to forward OSPF routing updates. An LSU packet can contain 11 different types of OSPFv2 LSAs. OSPFv3 renamed several of these LSAs and also contains two additional LSAs.</a:t>
            </a:r>
          </a:p>
          <a:p>
            <a:pPr marL="342900" indent="-342900" algn="l">
              <a:buFont typeface="Arial" panose="020B0604020202020204" pitchFamily="34" charset="0"/>
              <a:buChar char="•"/>
            </a:pPr>
            <a:r>
              <a:rPr lang="en-US" sz="1600" dirty="0">
                <a:solidFill>
                  <a:srgbClr val="000000"/>
                </a:solidFill>
              </a:rPr>
              <a:t>LSU and LSA are often used interchangeably, but the correct hierarchy is LSU packets contain LSA messages.</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8749C2E8-66E2-41D9-BA0A-9184B52AEB03}"/>
              </a:ext>
            </a:extLst>
          </p:cNvPr>
          <p:cNvPicPr>
            <a:picLocks noChangeAspect="1"/>
          </p:cNvPicPr>
          <p:nvPr/>
        </p:nvPicPr>
        <p:blipFill>
          <a:blip r:embed="rId3"/>
          <a:stretch>
            <a:fillRect/>
          </a:stretch>
        </p:blipFill>
        <p:spPr>
          <a:xfrm>
            <a:off x="4459437" y="827689"/>
            <a:ext cx="4000134" cy="3748252"/>
          </a:xfrm>
          <a:prstGeom prst="rect">
            <a:avLst/>
          </a:prstGeom>
        </p:spPr>
      </p:pic>
    </p:spTree>
    <p:extLst>
      <p:ext uri="{BB962C8B-B14F-4D97-AF65-F5344CB8AC3E}">
        <p14:creationId xmlns:p14="http://schemas.microsoft.com/office/powerpoint/2010/main" val="3489887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Packets</a:t>
            </a:r>
            <a:br>
              <a:rPr lang="en-US" dirty="0"/>
            </a:br>
            <a:r>
              <a:rPr lang="en-US" sz="2400" dirty="0"/>
              <a:t>Hello Packet</a:t>
            </a:r>
          </a:p>
        </p:txBody>
      </p:sp>
      <p:sp>
        <p:nvSpPr>
          <p:cNvPr id="5" name="Content Placeholder 4">
            <a:extLst>
              <a:ext uri="{FF2B5EF4-FFF2-40B4-BE49-F238E27FC236}">
                <a16:creationId xmlns:a16="http://schemas.microsoft.com/office/drawing/2014/main" id="{4DAA6094-FDF9-4429-8779-C60409ABFA35}"/>
              </a:ext>
            </a:extLst>
          </p:cNvPr>
          <p:cNvSpPr>
            <a:spLocks noGrp="1"/>
          </p:cNvSpPr>
          <p:nvPr>
            <p:ph idx="1"/>
          </p:nvPr>
        </p:nvSpPr>
        <p:spPr>
          <a:xfrm>
            <a:off x="474662" y="731837"/>
            <a:ext cx="3427304" cy="3689897"/>
          </a:xfrm>
        </p:spPr>
        <p:txBody>
          <a:bodyPr/>
          <a:lstStyle/>
          <a:p>
            <a:pPr marL="0" indent="0" algn="l"/>
            <a:r>
              <a:rPr lang="en-US" sz="1600" dirty="0">
                <a:solidFill>
                  <a:srgbClr val="000000"/>
                </a:solidFill>
              </a:rPr>
              <a:t>The OSPF Type 1 packet is the Hello packet. Hello packets are used to do the following:</a:t>
            </a:r>
          </a:p>
          <a:p>
            <a:pPr marL="342900" indent="-342900" algn="l">
              <a:buFont typeface="Arial" panose="020B0604020202020204" pitchFamily="34" charset="0"/>
              <a:buChar char="•"/>
            </a:pPr>
            <a:r>
              <a:rPr lang="en-US" sz="1600" dirty="0">
                <a:solidFill>
                  <a:srgbClr val="000000"/>
                </a:solidFill>
              </a:rPr>
              <a:t>Discover OSPF neighbors and establish neighbor adjacencies.</a:t>
            </a:r>
          </a:p>
          <a:p>
            <a:pPr marL="342900" indent="-342900" algn="l">
              <a:buFont typeface="Arial" panose="020B0604020202020204" pitchFamily="34" charset="0"/>
              <a:buChar char="•"/>
            </a:pPr>
            <a:r>
              <a:rPr lang="en-US" sz="1600" dirty="0">
                <a:solidFill>
                  <a:srgbClr val="000000"/>
                </a:solidFill>
              </a:rPr>
              <a:t>Advertise parameters on which two routers must agree to become neighbors.</a:t>
            </a:r>
          </a:p>
          <a:p>
            <a:pPr marL="342900" indent="-342900" algn="l">
              <a:buFont typeface="Arial" panose="020B0604020202020204" pitchFamily="34" charset="0"/>
              <a:buChar char="•"/>
            </a:pPr>
            <a:r>
              <a:rPr lang="en-US" sz="1600" dirty="0">
                <a:solidFill>
                  <a:srgbClr val="000000"/>
                </a:solidFill>
              </a:rPr>
              <a:t>Elect the Designated Router (DR) and Backup Designated Router (BDR) on multiaccess networks like Ethernet. Point-to-point links do not require DR or BDR.</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2F9545A7-DA48-4D95-982A-E312EF695E6A}"/>
              </a:ext>
            </a:extLst>
          </p:cNvPr>
          <p:cNvPicPr>
            <a:picLocks noChangeAspect="1"/>
          </p:cNvPicPr>
          <p:nvPr/>
        </p:nvPicPr>
        <p:blipFill>
          <a:blip r:embed="rId3"/>
          <a:stretch>
            <a:fillRect/>
          </a:stretch>
        </p:blipFill>
        <p:spPr>
          <a:xfrm>
            <a:off x="4014020" y="974072"/>
            <a:ext cx="4851455" cy="3205426"/>
          </a:xfrm>
          <a:prstGeom prst="rect">
            <a:avLst/>
          </a:prstGeom>
        </p:spPr>
      </p:pic>
    </p:spTree>
    <p:extLst>
      <p:ext uri="{BB962C8B-B14F-4D97-AF65-F5344CB8AC3E}">
        <p14:creationId xmlns:p14="http://schemas.microsoft.com/office/powerpoint/2010/main" val="202677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 OSPF Operation</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OSPF Operational States</a:t>
            </a:r>
          </a:p>
        </p:txBody>
      </p:sp>
      <p:graphicFrame>
        <p:nvGraphicFramePr>
          <p:cNvPr id="6" name="Table 6">
            <a:extLst>
              <a:ext uri="{FF2B5EF4-FFF2-40B4-BE49-F238E27FC236}">
                <a16:creationId xmlns:a16="http://schemas.microsoft.com/office/drawing/2014/main" id="{7CC4ED20-1835-4E39-8129-20609E886A37}"/>
              </a:ext>
            </a:extLst>
          </p:cNvPr>
          <p:cNvGraphicFramePr>
            <a:graphicFrameLocks noGrp="1"/>
          </p:cNvGraphicFramePr>
          <p:nvPr>
            <p:ph idx="1"/>
            <p:extLst>
              <p:ext uri="{D42A27DB-BD31-4B8C-83A1-F6EECF244321}">
                <p14:modId xmlns:p14="http://schemas.microsoft.com/office/powerpoint/2010/main" val="37371438"/>
              </p:ext>
            </p:extLst>
          </p:nvPr>
        </p:nvGraphicFramePr>
        <p:xfrm>
          <a:off x="506194" y="793199"/>
          <a:ext cx="8280400" cy="2743200"/>
        </p:xfrm>
        <a:graphic>
          <a:graphicData uri="http://schemas.openxmlformats.org/drawingml/2006/table">
            <a:tbl>
              <a:tblPr firstRow="1" bandRow="1">
                <a:tableStyleId>{5C22544A-7EE6-4342-B048-85BDC9FD1C3A}</a:tableStyleId>
              </a:tblPr>
              <a:tblGrid>
                <a:gridCol w="1681421">
                  <a:extLst>
                    <a:ext uri="{9D8B030D-6E8A-4147-A177-3AD203B41FA5}">
                      <a16:colId xmlns:a16="http://schemas.microsoft.com/office/drawing/2014/main" val="1337402727"/>
                    </a:ext>
                  </a:extLst>
                </a:gridCol>
                <a:gridCol w="6598979">
                  <a:extLst>
                    <a:ext uri="{9D8B030D-6E8A-4147-A177-3AD203B41FA5}">
                      <a16:colId xmlns:a16="http://schemas.microsoft.com/office/drawing/2014/main" val="54742232"/>
                    </a:ext>
                  </a:extLst>
                </a:gridCol>
              </a:tblGrid>
              <a:tr h="214553">
                <a:tc>
                  <a:txBody>
                    <a:bodyPr/>
                    <a:lstStyle/>
                    <a:p>
                      <a:pPr algn="l" fontAlgn="ctr"/>
                      <a:r>
                        <a:rPr lang="en-US" sz="1100">
                          <a:effectLst/>
                        </a:rPr>
                        <a:t>State</a:t>
                      </a:r>
                    </a:p>
                  </a:txBody>
                  <a:tcPr marL="47625" marR="47625" marT="47625" marB="47625" anchor="ctr"/>
                </a:tc>
                <a:tc>
                  <a:txBody>
                    <a:bodyPr/>
                    <a:lstStyle/>
                    <a:p>
                      <a:pPr algn="l" fontAlgn="ctr"/>
                      <a:r>
                        <a:rPr lang="en-US" sz="1100" dirty="0">
                          <a:effectLst/>
                        </a:rPr>
                        <a:t>Description</a:t>
                      </a:r>
                    </a:p>
                  </a:txBody>
                  <a:tcPr marL="47625" marR="47625" marT="47625" marB="47625" anchor="ctr"/>
                </a:tc>
                <a:extLst>
                  <a:ext uri="{0D108BD9-81ED-4DB2-BD59-A6C34878D82A}">
                    <a16:rowId xmlns:a16="http://schemas.microsoft.com/office/drawing/2014/main" val="3210007909"/>
                  </a:ext>
                </a:extLst>
              </a:tr>
              <a:tr h="485778">
                <a:tc>
                  <a:txBody>
                    <a:bodyPr/>
                    <a:lstStyle/>
                    <a:p>
                      <a:pPr fontAlgn="ctr"/>
                      <a:r>
                        <a:rPr lang="en-US" sz="1600" b="1">
                          <a:effectLst/>
                        </a:rPr>
                        <a:t>Down State</a:t>
                      </a:r>
                      <a:endParaRPr lang="en-US" sz="1600" b="0">
                        <a:effectLst/>
                      </a:endParaRPr>
                    </a:p>
                  </a:txBody>
                  <a:tcPr marL="47625" marR="47625" marT="47625" marB="47625" anchor="ctr"/>
                </a:tc>
                <a:tc>
                  <a:txBody>
                    <a:bodyPr/>
                    <a:lstStyle/>
                    <a:p>
                      <a:pPr fontAlgn="ctr">
                        <a:buFont typeface="Arial" panose="020B0604020202020204" pitchFamily="34" charset="0"/>
                        <a:buChar char="•"/>
                      </a:pPr>
                      <a:r>
                        <a:rPr lang="en-US" sz="1600" b="0" dirty="0">
                          <a:effectLst/>
                        </a:rPr>
                        <a:t>No Hello packets received = Down.</a:t>
                      </a:r>
                    </a:p>
                    <a:p>
                      <a:pPr fontAlgn="ctr">
                        <a:buFont typeface="Arial" panose="020B0604020202020204" pitchFamily="34" charset="0"/>
                        <a:buChar char="•"/>
                      </a:pPr>
                      <a:r>
                        <a:rPr lang="en-US" sz="1600" b="0" dirty="0">
                          <a:effectLst/>
                        </a:rPr>
                        <a:t>Router sends Hello packets.</a:t>
                      </a:r>
                    </a:p>
                    <a:p>
                      <a:pPr fontAlgn="ctr">
                        <a:buFont typeface="Arial" panose="020B0604020202020204" pitchFamily="34" charset="0"/>
                        <a:buChar char="•"/>
                      </a:pPr>
                      <a:r>
                        <a:rPr lang="en-US" sz="1600" b="0" dirty="0">
                          <a:effectLst/>
                        </a:rPr>
                        <a:t>Transition to Init state.</a:t>
                      </a:r>
                    </a:p>
                  </a:txBody>
                  <a:tcPr marL="47625" marR="47625" marT="47625" marB="47625" anchor="ctr"/>
                </a:tc>
                <a:extLst>
                  <a:ext uri="{0D108BD9-81ED-4DB2-BD59-A6C34878D82A}">
                    <a16:rowId xmlns:a16="http://schemas.microsoft.com/office/drawing/2014/main" val="2086309283"/>
                  </a:ext>
                </a:extLst>
              </a:tr>
              <a:tr h="485778">
                <a:tc>
                  <a:txBody>
                    <a:bodyPr/>
                    <a:lstStyle/>
                    <a:p>
                      <a:pPr fontAlgn="ctr"/>
                      <a:r>
                        <a:rPr lang="en-US" sz="1600" b="1">
                          <a:effectLst/>
                        </a:rPr>
                        <a:t>Init State</a:t>
                      </a:r>
                      <a:endParaRPr lang="en-US" sz="1600" b="0">
                        <a:effectLst/>
                      </a:endParaRPr>
                    </a:p>
                  </a:txBody>
                  <a:tcPr marL="47625" marR="47625" marT="47625" marB="47625" anchor="ctr"/>
                </a:tc>
                <a:tc>
                  <a:txBody>
                    <a:bodyPr/>
                    <a:lstStyle/>
                    <a:p>
                      <a:pPr fontAlgn="ctr">
                        <a:buFont typeface="Arial" panose="020B0604020202020204" pitchFamily="34" charset="0"/>
                        <a:buChar char="•"/>
                      </a:pPr>
                      <a:r>
                        <a:rPr lang="en-US" sz="1600" b="0" dirty="0">
                          <a:effectLst/>
                        </a:rPr>
                        <a:t>Hello packets are received from the neighbor.</a:t>
                      </a:r>
                    </a:p>
                    <a:p>
                      <a:pPr fontAlgn="ctr">
                        <a:buFont typeface="Arial" panose="020B0604020202020204" pitchFamily="34" charset="0"/>
                        <a:buChar char="•"/>
                      </a:pPr>
                      <a:r>
                        <a:rPr lang="en-US" sz="1600" b="0" dirty="0">
                          <a:effectLst/>
                        </a:rPr>
                        <a:t>They contain the Router ID of the sending router.</a:t>
                      </a:r>
                    </a:p>
                    <a:p>
                      <a:pPr fontAlgn="ctr">
                        <a:buFont typeface="Arial" panose="020B0604020202020204" pitchFamily="34" charset="0"/>
                        <a:buChar char="•"/>
                      </a:pPr>
                      <a:r>
                        <a:rPr lang="en-US" sz="1600" b="0" dirty="0">
                          <a:effectLst/>
                        </a:rPr>
                        <a:t>Transition to Two-Way state.</a:t>
                      </a:r>
                    </a:p>
                  </a:txBody>
                  <a:tcPr marL="47625" marR="47625" marT="47625" marB="47625" anchor="ctr"/>
                </a:tc>
                <a:extLst>
                  <a:ext uri="{0D108BD9-81ED-4DB2-BD59-A6C34878D82A}">
                    <a16:rowId xmlns:a16="http://schemas.microsoft.com/office/drawing/2014/main" val="3251744716"/>
                  </a:ext>
                </a:extLst>
              </a:tr>
              <a:tr h="485778">
                <a:tc>
                  <a:txBody>
                    <a:bodyPr/>
                    <a:lstStyle/>
                    <a:p>
                      <a:pPr fontAlgn="ctr"/>
                      <a:r>
                        <a:rPr lang="en-US" sz="1600" b="1">
                          <a:effectLst/>
                        </a:rPr>
                        <a:t>Two-Way State</a:t>
                      </a:r>
                      <a:endParaRPr lang="en-US" sz="1600" b="0">
                        <a:effectLst/>
                      </a:endParaRPr>
                    </a:p>
                  </a:txBody>
                  <a:tcPr marL="47625" marR="47625" marT="47625" marB="47625" anchor="ctr"/>
                </a:tc>
                <a:tc>
                  <a:txBody>
                    <a:bodyPr/>
                    <a:lstStyle/>
                    <a:p>
                      <a:pPr fontAlgn="ctr">
                        <a:buFont typeface="Arial" panose="020B0604020202020204" pitchFamily="34" charset="0"/>
                        <a:buChar char="•"/>
                      </a:pPr>
                      <a:r>
                        <a:rPr lang="en-US" sz="1600" b="0" dirty="0">
                          <a:effectLst/>
                        </a:rPr>
                        <a:t>In this state, communication between the two routers is bidirectional.</a:t>
                      </a:r>
                    </a:p>
                    <a:p>
                      <a:pPr fontAlgn="ctr">
                        <a:buFont typeface="Arial" panose="020B0604020202020204" pitchFamily="34" charset="0"/>
                        <a:buChar char="•"/>
                      </a:pPr>
                      <a:r>
                        <a:rPr lang="en-US" sz="1600" b="0" dirty="0">
                          <a:effectLst/>
                        </a:rPr>
                        <a:t>On </a:t>
                      </a:r>
                      <a:r>
                        <a:rPr lang="en-US" sz="1600" b="0" dirty="0" err="1">
                          <a:effectLst/>
                        </a:rPr>
                        <a:t>multiaccess</a:t>
                      </a:r>
                      <a:r>
                        <a:rPr lang="en-US" sz="1600" b="0" dirty="0">
                          <a:effectLst/>
                        </a:rPr>
                        <a:t> links, the routers elect a DR and a BDR.</a:t>
                      </a:r>
                    </a:p>
                    <a:p>
                      <a:pPr fontAlgn="ctr">
                        <a:buFont typeface="Arial" panose="020B0604020202020204" pitchFamily="34" charset="0"/>
                        <a:buChar char="•"/>
                      </a:pPr>
                      <a:r>
                        <a:rPr lang="en-US" sz="1600" b="0" dirty="0">
                          <a:effectLst/>
                        </a:rPr>
                        <a:t>Transition to </a:t>
                      </a:r>
                      <a:r>
                        <a:rPr lang="en-US" sz="1600" b="0" dirty="0" err="1">
                          <a:effectLst/>
                        </a:rPr>
                        <a:t>ExStart</a:t>
                      </a:r>
                      <a:r>
                        <a:rPr lang="en-US" sz="1600" b="0" dirty="0">
                          <a:effectLst/>
                        </a:rPr>
                        <a:t> state.</a:t>
                      </a:r>
                    </a:p>
                  </a:txBody>
                  <a:tcPr marL="47625" marR="47625" marT="47625" marB="47625" anchor="ctr"/>
                </a:tc>
                <a:extLst>
                  <a:ext uri="{0D108BD9-81ED-4DB2-BD59-A6C34878D82A}">
                    <a16:rowId xmlns:a16="http://schemas.microsoft.com/office/drawing/2014/main" val="3657586232"/>
                  </a:ext>
                </a:extLst>
              </a:tr>
            </a:tbl>
          </a:graphicData>
        </a:graphic>
      </p:graphicFrame>
    </p:spTree>
    <p:extLst>
      <p:ext uri="{BB962C8B-B14F-4D97-AF65-F5344CB8AC3E}">
        <p14:creationId xmlns:p14="http://schemas.microsoft.com/office/powerpoint/2010/main" val="327291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OSPF Operational States (Cont.)</a:t>
            </a:r>
          </a:p>
        </p:txBody>
      </p:sp>
      <p:graphicFrame>
        <p:nvGraphicFramePr>
          <p:cNvPr id="6" name="Table 6">
            <a:extLst>
              <a:ext uri="{FF2B5EF4-FFF2-40B4-BE49-F238E27FC236}">
                <a16:creationId xmlns:a16="http://schemas.microsoft.com/office/drawing/2014/main" id="{7CC4ED20-1835-4E39-8129-20609E886A37}"/>
              </a:ext>
            </a:extLst>
          </p:cNvPr>
          <p:cNvGraphicFramePr>
            <a:graphicFrameLocks noGrp="1"/>
          </p:cNvGraphicFramePr>
          <p:nvPr>
            <p:ph idx="1"/>
            <p:extLst>
              <p:ext uri="{D42A27DB-BD31-4B8C-83A1-F6EECF244321}">
                <p14:modId xmlns:p14="http://schemas.microsoft.com/office/powerpoint/2010/main" val="350220303"/>
              </p:ext>
            </p:extLst>
          </p:nvPr>
        </p:nvGraphicFramePr>
        <p:xfrm>
          <a:off x="506194" y="793199"/>
          <a:ext cx="8280400" cy="3082290"/>
        </p:xfrm>
        <a:graphic>
          <a:graphicData uri="http://schemas.openxmlformats.org/drawingml/2006/table">
            <a:tbl>
              <a:tblPr firstRow="1" bandRow="1">
                <a:tableStyleId>{5C22544A-7EE6-4342-B048-85BDC9FD1C3A}</a:tableStyleId>
              </a:tblPr>
              <a:tblGrid>
                <a:gridCol w="1542525">
                  <a:extLst>
                    <a:ext uri="{9D8B030D-6E8A-4147-A177-3AD203B41FA5}">
                      <a16:colId xmlns:a16="http://schemas.microsoft.com/office/drawing/2014/main" val="1337402727"/>
                    </a:ext>
                  </a:extLst>
                </a:gridCol>
                <a:gridCol w="6737875">
                  <a:extLst>
                    <a:ext uri="{9D8B030D-6E8A-4147-A177-3AD203B41FA5}">
                      <a16:colId xmlns:a16="http://schemas.microsoft.com/office/drawing/2014/main" val="54742232"/>
                    </a:ext>
                  </a:extLst>
                </a:gridCol>
              </a:tblGrid>
              <a:tr h="214553">
                <a:tc>
                  <a:txBody>
                    <a:bodyPr/>
                    <a:lstStyle/>
                    <a:p>
                      <a:pPr algn="l" fontAlgn="ctr"/>
                      <a:r>
                        <a:rPr lang="en-US" sz="1100">
                          <a:effectLst/>
                        </a:rPr>
                        <a:t>State</a:t>
                      </a:r>
                    </a:p>
                  </a:txBody>
                  <a:tcPr marL="47625" marR="47625" marT="47625" marB="47625" anchor="ctr"/>
                </a:tc>
                <a:tc>
                  <a:txBody>
                    <a:bodyPr/>
                    <a:lstStyle/>
                    <a:p>
                      <a:pPr algn="l" fontAlgn="ctr"/>
                      <a:r>
                        <a:rPr lang="en-US" sz="1100" dirty="0">
                          <a:effectLst/>
                        </a:rPr>
                        <a:t>Description</a:t>
                      </a:r>
                    </a:p>
                  </a:txBody>
                  <a:tcPr marL="47625" marR="47625" marT="47625" marB="47625" anchor="ctr"/>
                </a:tc>
                <a:extLst>
                  <a:ext uri="{0D108BD9-81ED-4DB2-BD59-A6C34878D82A}">
                    <a16:rowId xmlns:a16="http://schemas.microsoft.com/office/drawing/2014/main" val="3210007909"/>
                  </a:ext>
                </a:extLst>
              </a:tr>
              <a:tr h="349636">
                <a:tc>
                  <a:txBody>
                    <a:bodyPr/>
                    <a:lstStyle/>
                    <a:p>
                      <a:pPr fontAlgn="ctr"/>
                      <a:r>
                        <a:rPr lang="en-US" sz="1600" b="1" dirty="0" err="1">
                          <a:effectLst/>
                        </a:rPr>
                        <a:t>ExStart</a:t>
                      </a:r>
                      <a:r>
                        <a:rPr lang="en-US" sz="1600" b="1" dirty="0">
                          <a:effectLst/>
                        </a:rPr>
                        <a:t> State</a:t>
                      </a:r>
                      <a:endParaRPr lang="en-US" sz="1600" b="0" dirty="0">
                        <a:effectLst/>
                      </a:endParaRPr>
                    </a:p>
                  </a:txBody>
                  <a:tcPr marL="47625" marR="47625" marT="47625" marB="47625" anchor="ctr"/>
                </a:tc>
                <a:tc>
                  <a:txBody>
                    <a:bodyPr/>
                    <a:lstStyle/>
                    <a:p>
                      <a:pPr fontAlgn="ctr"/>
                      <a:r>
                        <a:rPr lang="en-US" sz="1600" b="0" dirty="0">
                          <a:effectLst/>
                        </a:rPr>
                        <a:t>On point-to-point networks, the two routers decide which router will initiate the DBD packet exchange and decide upon the initial DBD packet sequence number.</a:t>
                      </a:r>
                    </a:p>
                  </a:txBody>
                  <a:tcPr marL="47625" marR="47625" marT="47625" marB="47625" anchor="ctr"/>
                </a:tc>
                <a:extLst>
                  <a:ext uri="{0D108BD9-81ED-4DB2-BD59-A6C34878D82A}">
                    <a16:rowId xmlns:a16="http://schemas.microsoft.com/office/drawing/2014/main" val="1224079440"/>
                  </a:ext>
                </a:extLst>
              </a:tr>
              <a:tr h="467011">
                <a:tc>
                  <a:txBody>
                    <a:bodyPr/>
                    <a:lstStyle/>
                    <a:p>
                      <a:pPr fontAlgn="ctr"/>
                      <a:r>
                        <a:rPr lang="en-US" sz="1600" b="1">
                          <a:effectLst/>
                        </a:rPr>
                        <a:t>Exchange State</a:t>
                      </a:r>
                      <a:endParaRPr lang="en-US" sz="1600" b="0">
                        <a:effectLst/>
                      </a:endParaRPr>
                    </a:p>
                  </a:txBody>
                  <a:tcPr marL="47625" marR="47625" marT="47625" marB="47625" anchor="ctr"/>
                </a:tc>
                <a:tc>
                  <a:txBody>
                    <a:bodyPr/>
                    <a:lstStyle/>
                    <a:p>
                      <a:pPr fontAlgn="ctr">
                        <a:buFont typeface="Arial" panose="020B0604020202020204" pitchFamily="34" charset="0"/>
                        <a:buChar char="•"/>
                      </a:pPr>
                      <a:r>
                        <a:rPr lang="en-US" sz="1600" b="0" dirty="0">
                          <a:effectLst/>
                        </a:rPr>
                        <a:t>Routers exchange DBD packets.</a:t>
                      </a:r>
                    </a:p>
                    <a:p>
                      <a:pPr fontAlgn="ctr">
                        <a:buFont typeface="Arial" panose="020B0604020202020204" pitchFamily="34" charset="0"/>
                        <a:buChar char="•"/>
                      </a:pPr>
                      <a:r>
                        <a:rPr lang="en-US" sz="1600" b="0" dirty="0">
                          <a:effectLst/>
                        </a:rPr>
                        <a:t>If additional router information is required then transition to Loading; otherwise, transition to the Full state.</a:t>
                      </a:r>
                    </a:p>
                  </a:txBody>
                  <a:tcPr marL="47625" marR="47625" marT="47625" marB="47625" anchor="ctr"/>
                </a:tc>
                <a:extLst>
                  <a:ext uri="{0D108BD9-81ED-4DB2-BD59-A6C34878D82A}">
                    <a16:rowId xmlns:a16="http://schemas.microsoft.com/office/drawing/2014/main" val="1822317577"/>
                  </a:ext>
                </a:extLst>
              </a:tr>
              <a:tr h="485778">
                <a:tc>
                  <a:txBody>
                    <a:bodyPr/>
                    <a:lstStyle/>
                    <a:p>
                      <a:pPr fontAlgn="ctr"/>
                      <a:r>
                        <a:rPr lang="en-US" sz="1600" b="1">
                          <a:effectLst/>
                        </a:rPr>
                        <a:t>Loading State</a:t>
                      </a:r>
                      <a:endParaRPr lang="en-US" sz="1600" b="0">
                        <a:effectLst/>
                      </a:endParaRPr>
                    </a:p>
                  </a:txBody>
                  <a:tcPr marL="47625" marR="47625" marT="47625" marB="47625" anchor="ctr"/>
                </a:tc>
                <a:tc>
                  <a:txBody>
                    <a:bodyPr/>
                    <a:lstStyle/>
                    <a:p>
                      <a:pPr fontAlgn="ctr">
                        <a:buFont typeface="Arial" panose="020B0604020202020204" pitchFamily="34" charset="0"/>
                        <a:buChar char="•"/>
                      </a:pPr>
                      <a:r>
                        <a:rPr lang="en-US" sz="1600" b="0" dirty="0">
                          <a:effectLst/>
                        </a:rPr>
                        <a:t>LSRs and LSUs are used to gain additional route information.</a:t>
                      </a:r>
                    </a:p>
                    <a:p>
                      <a:pPr fontAlgn="ctr">
                        <a:buFont typeface="Arial" panose="020B0604020202020204" pitchFamily="34" charset="0"/>
                        <a:buChar char="•"/>
                      </a:pPr>
                      <a:r>
                        <a:rPr lang="en-US" sz="1600" b="0" dirty="0">
                          <a:effectLst/>
                        </a:rPr>
                        <a:t>Routes are processed using the SPF algorithm.</a:t>
                      </a:r>
                    </a:p>
                    <a:p>
                      <a:pPr fontAlgn="ctr">
                        <a:buFont typeface="Arial" panose="020B0604020202020204" pitchFamily="34" charset="0"/>
                        <a:buChar char="•"/>
                      </a:pPr>
                      <a:r>
                        <a:rPr lang="en-US" sz="1600" b="0" dirty="0">
                          <a:effectLst/>
                        </a:rPr>
                        <a:t>Transition to the Full state.</a:t>
                      </a:r>
                    </a:p>
                  </a:txBody>
                  <a:tcPr marL="47625" marR="47625" marT="47625" marB="47625" anchor="ctr"/>
                </a:tc>
                <a:extLst>
                  <a:ext uri="{0D108BD9-81ED-4DB2-BD59-A6C34878D82A}">
                    <a16:rowId xmlns:a16="http://schemas.microsoft.com/office/drawing/2014/main" val="2209947322"/>
                  </a:ext>
                </a:extLst>
              </a:tr>
              <a:tr h="214553">
                <a:tc>
                  <a:txBody>
                    <a:bodyPr/>
                    <a:lstStyle/>
                    <a:p>
                      <a:pPr fontAlgn="ctr"/>
                      <a:r>
                        <a:rPr lang="en-US" sz="1600" b="1">
                          <a:effectLst/>
                        </a:rPr>
                        <a:t>Full State</a:t>
                      </a:r>
                      <a:endParaRPr lang="en-US" sz="1600" b="0">
                        <a:effectLst/>
                      </a:endParaRPr>
                    </a:p>
                  </a:txBody>
                  <a:tcPr marL="47625" marR="47625" marT="47625" marB="47625" anchor="ctr"/>
                </a:tc>
                <a:tc>
                  <a:txBody>
                    <a:bodyPr/>
                    <a:lstStyle/>
                    <a:p>
                      <a:pPr fontAlgn="ctr"/>
                      <a:r>
                        <a:rPr lang="en-US" sz="1600" b="0" dirty="0">
                          <a:effectLst/>
                        </a:rPr>
                        <a:t>The link-state database of the router is fully synchronized.</a:t>
                      </a:r>
                    </a:p>
                  </a:txBody>
                  <a:tcPr marL="47625" marR="47625" marT="47625" marB="47625" anchor="ctr"/>
                </a:tc>
                <a:extLst>
                  <a:ext uri="{0D108BD9-81ED-4DB2-BD59-A6C34878D82A}">
                    <a16:rowId xmlns:a16="http://schemas.microsoft.com/office/drawing/2014/main" val="748123781"/>
                  </a:ext>
                </a:extLst>
              </a:tr>
            </a:tbl>
          </a:graphicData>
        </a:graphic>
      </p:graphicFrame>
    </p:spTree>
    <p:extLst>
      <p:ext uri="{BB962C8B-B14F-4D97-AF65-F5344CB8AC3E}">
        <p14:creationId xmlns:p14="http://schemas.microsoft.com/office/powerpoint/2010/main" val="3690900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Establish Neighbor Adjacencies</a:t>
            </a:r>
          </a:p>
        </p:txBody>
      </p:sp>
      <p:sp>
        <p:nvSpPr>
          <p:cNvPr id="7" name="Content Placeholder 6">
            <a:extLst>
              <a:ext uri="{FF2B5EF4-FFF2-40B4-BE49-F238E27FC236}">
                <a16:creationId xmlns:a16="http://schemas.microsoft.com/office/drawing/2014/main" id="{AFBB3483-BC3B-4E63-A0E2-425C1166368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To determine if there is an OSPF neighbor on the link, the router sends a Hello packet that contains its router ID out all OSPF-enabled interfaces. The Hello packet is sent to the reserved All OSPF Routers IPv4 multicast address 224.0.0.5. Only OSPFv2 routers will process these packets. </a:t>
            </a:r>
          </a:p>
          <a:p>
            <a:pPr marL="342900" indent="-342900" algn="l">
              <a:buFont typeface="Arial" panose="020B0604020202020204" pitchFamily="34" charset="0"/>
              <a:buChar char="•"/>
            </a:pPr>
            <a:r>
              <a:rPr lang="en-US" sz="1600" dirty="0">
                <a:solidFill>
                  <a:srgbClr val="000000"/>
                </a:solidFill>
              </a:rPr>
              <a:t>The OSPF router ID is used by the OSPF process to uniquely identify each router in the OSPF area. A router ID is a 32-bit number formatted like an IPv4 address and assigned to uniquely identify a router among OSPF peers.</a:t>
            </a:r>
          </a:p>
          <a:p>
            <a:pPr marL="342900" indent="-342900" algn="l">
              <a:buFont typeface="Arial" panose="020B0604020202020204" pitchFamily="34" charset="0"/>
              <a:buChar char="•"/>
            </a:pPr>
            <a:r>
              <a:rPr lang="en-US" sz="1600" dirty="0">
                <a:solidFill>
                  <a:srgbClr val="000000"/>
                </a:solidFill>
              </a:rPr>
              <a:t>When a neighboring OSPF-enabled router receives a Hello packet with a router ID that is not within its neighbor list, the receiving router attempts to establish an adjacency with the initiating router.</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7475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Establish Neighbor Adjacencies – Down State</a:t>
            </a:r>
          </a:p>
        </p:txBody>
      </p:sp>
      <p:pic>
        <p:nvPicPr>
          <p:cNvPr id="4" name="Content Placeholder 3"/>
          <p:cNvPicPr>
            <a:picLocks noGrp="1" noChangeAspect="1"/>
          </p:cNvPicPr>
          <p:nvPr>
            <p:ph idx="1"/>
          </p:nvPr>
        </p:nvPicPr>
        <p:blipFill>
          <a:blip r:embed="rId3"/>
          <a:stretch>
            <a:fillRect/>
          </a:stretch>
        </p:blipFill>
        <p:spPr>
          <a:xfrm>
            <a:off x="1863607" y="793631"/>
            <a:ext cx="5416787" cy="3556239"/>
          </a:xfrm>
          <a:prstGeom prst="rect">
            <a:avLst/>
          </a:prstGeom>
        </p:spPr>
      </p:pic>
    </p:spTree>
    <p:extLst>
      <p:ext uri="{BB962C8B-B14F-4D97-AF65-F5344CB8AC3E}">
        <p14:creationId xmlns:p14="http://schemas.microsoft.com/office/powerpoint/2010/main" val="1055149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Establish Neighbor Adjacencies – </a:t>
            </a:r>
            <a:r>
              <a:rPr lang="en-US" sz="2400" dirty="0" err="1"/>
              <a:t>Init</a:t>
            </a:r>
            <a:r>
              <a:rPr lang="en-US" sz="2400" dirty="0"/>
              <a:t> State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63607" y="1057548"/>
            <a:ext cx="5416787" cy="3028405"/>
          </a:xfrm>
          <a:prstGeom prst="rect">
            <a:avLst/>
          </a:prstGeom>
        </p:spPr>
      </p:pic>
    </p:spTree>
    <p:extLst>
      <p:ext uri="{BB962C8B-B14F-4D97-AF65-F5344CB8AC3E}">
        <p14:creationId xmlns:p14="http://schemas.microsoft.com/office/powerpoint/2010/main" val="2490589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Establish Neighbor Adjacencies – Two-Way State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63607" y="1192187"/>
            <a:ext cx="5416787" cy="2759127"/>
          </a:xfrm>
          <a:prstGeom prst="rect">
            <a:avLst/>
          </a:prstGeom>
        </p:spPr>
      </p:pic>
    </p:spTree>
    <p:extLst>
      <p:ext uri="{BB962C8B-B14F-4D97-AF65-F5344CB8AC3E}">
        <p14:creationId xmlns:p14="http://schemas.microsoft.com/office/powerpoint/2010/main" val="65408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Establish Neighbor Adjacencies – Two-Way State (Cont.)</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63607" y="1326826"/>
            <a:ext cx="5416787" cy="2489848"/>
          </a:xfrm>
          <a:prstGeom prst="rect">
            <a:avLst/>
          </a:prstGeom>
        </p:spPr>
      </p:pic>
    </p:spTree>
    <p:extLst>
      <p:ext uri="{BB962C8B-B14F-4D97-AF65-F5344CB8AC3E}">
        <p14:creationId xmlns:p14="http://schemas.microsoft.com/office/powerpoint/2010/main" val="214624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Synchronizing OSPF Databases</a:t>
            </a:r>
          </a:p>
        </p:txBody>
      </p:sp>
      <p:sp>
        <p:nvSpPr>
          <p:cNvPr id="4" name="Content Placeholder 3">
            <a:extLst>
              <a:ext uri="{FF2B5EF4-FFF2-40B4-BE49-F238E27FC236}">
                <a16:creationId xmlns:a16="http://schemas.microsoft.com/office/drawing/2014/main" id="{90654B0D-4339-4DE4-BAD7-3269435A87E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the Two-Way state, routers transition to database synchronization states. This is a three step process, as follows:</a:t>
            </a:r>
          </a:p>
          <a:p>
            <a:pPr lvl="1"/>
            <a:r>
              <a:rPr lang="en-US" sz="1600" dirty="0">
                <a:solidFill>
                  <a:srgbClr val="000000"/>
                </a:solidFill>
              </a:rPr>
              <a:t>Decide first router: The router with the highest router ID sends its DBD first.</a:t>
            </a:r>
          </a:p>
          <a:p>
            <a:pPr lvl="1"/>
            <a:r>
              <a:rPr lang="en-US" sz="1600" dirty="0">
                <a:solidFill>
                  <a:srgbClr val="000000"/>
                </a:solidFill>
              </a:rPr>
              <a:t>Exchange DBDs: As many as needed to convey the database. The other router must acknowledge each DBD with an </a:t>
            </a:r>
            <a:r>
              <a:rPr lang="en-US" sz="1600" dirty="0" err="1">
                <a:solidFill>
                  <a:srgbClr val="000000"/>
                </a:solidFill>
              </a:rPr>
              <a:t>LSAck</a:t>
            </a:r>
            <a:r>
              <a:rPr lang="en-US" sz="1600" dirty="0">
                <a:solidFill>
                  <a:srgbClr val="000000"/>
                </a:solidFill>
              </a:rPr>
              <a:t> packet.</a:t>
            </a:r>
          </a:p>
          <a:p>
            <a:pPr lvl="1"/>
            <a:r>
              <a:rPr lang="en-US" sz="1600" dirty="0">
                <a:solidFill>
                  <a:srgbClr val="000000"/>
                </a:solidFill>
              </a:rPr>
              <a:t>Send an LSR: Each router compares the DBD information with the local LSDB. If the DBD has more current link information, the router transitions to the loading state.</a:t>
            </a:r>
          </a:p>
          <a:p>
            <a:pPr lvl="1"/>
            <a:endParaRPr lang="en-US" sz="1600" dirty="0">
              <a:solidFill>
                <a:srgbClr val="000000"/>
              </a:solidFill>
            </a:endParaRPr>
          </a:p>
          <a:p>
            <a:pPr marL="142875" lvl="1" indent="0">
              <a:buNone/>
            </a:pPr>
            <a:r>
              <a:rPr lang="en-US" sz="1600" dirty="0">
                <a:solidFill>
                  <a:srgbClr val="000000"/>
                </a:solidFill>
              </a:rPr>
              <a:t>After all LSRs have been exchanged and satisfied, the routers are considered synchronized and in a full state. Updates (LSUs) are sent:</a:t>
            </a:r>
          </a:p>
          <a:p>
            <a:pPr lvl="1"/>
            <a:r>
              <a:rPr lang="en-US" sz="1600" dirty="0">
                <a:solidFill>
                  <a:srgbClr val="000000"/>
                </a:solidFill>
              </a:rPr>
              <a:t>When a change is perceived (incremental updates)</a:t>
            </a:r>
          </a:p>
          <a:p>
            <a:pPr lvl="1"/>
            <a:r>
              <a:rPr lang="en-US" sz="1600" dirty="0">
                <a:solidFill>
                  <a:srgbClr val="000000"/>
                </a:solidFill>
              </a:rPr>
              <a:t>Every 30 minutes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418611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Synchronizing OSPF Databases - </a:t>
            </a:r>
            <a:r>
              <a:rPr lang="en-US" sz="2400" dirty="0" err="1"/>
              <a:t>ExStart</a:t>
            </a:r>
            <a:endParaRPr lang="en-US" sz="2400"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63607" y="1192187"/>
            <a:ext cx="5416787" cy="2759127"/>
          </a:xfrm>
          <a:prstGeom prst="rect">
            <a:avLst/>
          </a:prstGeom>
        </p:spPr>
      </p:pic>
    </p:spTree>
    <p:extLst>
      <p:ext uri="{BB962C8B-B14F-4D97-AF65-F5344CB8AC3E}">
        <p14:creationId xmlns:p14="http://schemas.microsoft.com/office/powerpoint/2010/main" val="368337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Synchronizing OSPF Databases - Exchange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70937" y="685328"/>
            <a:ext cx="3602127" cy="3772845"/>
          </a:xfrm>
          <a:prstGeom prst="rect">
            <a:avLst/>
          </a:prstGeom>
        </p:spPr>
      </p:pic>
    </p:spTree>
    <p:extLst>
      <p:ext uri="{BB962C8B-B14F-4D97-AF65-F5344CB8AC3E}">
        <p14:creationId xmlns:p14="http://schemas.microsoft.com/office/powerpoint/2010/main" val="3134763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Synchronizing OSPF Databases - Loading</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70937" y="855352"/>
            <a:ext cx="3602127" cy="3432796"/>
          </a:xfrm>
          <a:prstGeom prst="rect">
            <a:avLst/>
          </a:prstGeom>
        </p:spPr>
      </p:pic>
    </p:spTree>
    <p:extLst>
      <p:ext uri="{BB962C8B-B14F-4D97-AF65-F5344CB8AC3E}">
        <p14:creationId xmlns:p14="http://schemas.microsoft.com/office/powerpoint/2010/main" val="4278999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The Need for a DR</a:t>
            </a:r>
          </a:p>
        </p:txBody>
      </p:sp>
      <p:sp>
        <p:nvSpPr>
          <p:cNvPr id="5" name="Content Placeholder 4">
            <a:extLst>
              <a:ext uri="{FF2B5EF4-FFF2-40B4-BE49-F238E27FC236}">
                <a16:creationId xmlns:a16="http://schemas.microsoft.com/office/drawing/2014/main" id="{6FE35820-8635-4B2D-A3DB-7BD408787B0D}"/>
              </a:ext>
            </a:extLst>
          </p:cNvPr>
          <p:cNvSpPr>
            <a:spLocks noGrp="1"/>
          </p:cNvSpPr>
          <p:nvPr>
            <p:ph idx="1"/>
          </p:nvPr>
        </p:nvSpPr>
        <p:spPr>
          <a:xfrm>
            <a:off x="474662" y="731837"/>
            <a:ext cx="4396883" cy="3689897"/>
          </a:xfrm>
        </p:spPr>
        <p:txBody>
          <a:bodyPr/>
          <a:lstStyle/>
          <a:p>
            <a:pPr marL="0" indent="0" algn="l"/>
            <a:r>
              <a:rPr lang="en-US" sz="1600" dirty="0">
                <a:solidFill>
                  <a:srgbClr val="000000"/>
                </a:solidFill>
              </a:rPr>
              <a:t>Multiaccess networks can create two challenges for OSPF regarding the flooding of LSAs, as follows:</a:t>
            </a:r>
          </a:p>
          <a:p>
            <a:pPr marL="342900" indent="-342900" algn="l">
              <a:buFont typeface="Arial" panose="020B0604020202020204" pitchFamily="34" charset="0"/>
              <a:buChar char="•"/>
            </a:pPr>
            <a:r>
              <a:rPr lang="en-US" sz="1600" b="1" dirty="0">
                <a:solidFill>
                  <a:srgbClr val="000000"/>
                </a:solidFill>
              </a:rPr>
              <a:t>Creation of multiple adjacencies</a:t>
            </a:r>
            <a:r>
              <a:rPr lang="en-US" sz="1600" dirty="0">
                <a:solidFill>
                  <a:srgbClr val="000000"/>
                </a:solidFill>
              </a:rPr>
              <a:t> - Ethernet networks could potentially interconnect many OSPF routers over a common link. Creating adjacencies with every router would lead to an excessive number of LSAs exchanged between routers on the same network.</a:t>
            </a:r>
          </a:p>
          <a:p>
            <a:pPr marL="342900" indent="-342900" algn="l">
              <a:buFont typeface="Arial" panose="020B0604020202020204" pitchFamily="34" charset="0"/>
              <a:buChar char="•"/>
            </a:pPr>
            <a:r>
              <a:rPr lang="en-US" sz="1600" b="1" dirty="0">
                <a:solidFill>
                  <a:srgbClr val="000000"/>
                </a:solidFill>
              </a:rPr>
              <a:t>Extensive flooding of LSAs</a:t>
            </a:r>
            <a:r>
              <a:rPr lang="en-US" sz="1600" dirty="0">
                <a:solidFill>
                  <a:srgbClr val="000000"/>
                </a:solidFill>
              </a:rPr>
              <a:t> - Link-state routers flood their LSAs any time OSPF is initialized, or when there is a change in the topology. This flooding can become excessive.</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6F0CD712-95F4-4F34-A8FF-757F146E1655}"/>
              </a:ext>
            </a:extLst>
          </p:cNvPr>
          <p:cNvPicPr>
            <a:picLocks noChangeAspect="1"/>
          </p:cNvPicPr>
          <p:nvPr/>
        </p:nvPicPr>
        <p:blipFill>
          <a:blip r:embed="rId3"/>
          <a:stretch>
            <a:fillRect/>
          </a:stretch>
        </p:blipFill>
        <p:spPr>
          <a:xfrm>
            <a:off x="5025587" y="943248"/>
            <a:ext cx="3790950" cy="3267075"/>
          </a:xfrm>
          <a:prstGeom prst="rect">
            <a:avLst/>
          </a:prstGeom>
        </p:spPr>
      </p:pic>
    </p:spTree>
    <p:extLst>
      <p:ext uri="{BB962C8B-B14F-4D97-AF65-F5344CB8AC3E}">
        <p14:creationId xmlns:p14="http://schemas.microsoft.com/office/powerpoint/2010/main" val="2405043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Operation</a:t>
            </a:r>
            <a:br>
              <a:rPr lang="en-US" dirty="0"/>
            </a:br>
            <a:r>
              <a:rPr lang="en-US" sz="2400" dirty="0"/>
              <a:t>LSA Flooding with a DR</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8441" y="951517"/>
            <a:ext cx="4377295" cy="3240466"/>
          </a:xfr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2921" y="951750"/>
            <a:ext cx="4140554" cy="3240000"/>
          </a:xfrm>
          <a:prstGeom prst="rect">
            <a:avLst/>
          </a:prstGeom>
        </p:spPr>
      </p:pic>
    </p:spTree>
    <p:extLst>
      <p:ext uri="{BB962C8B-B14F-4D97-AF65-F5344CB8AC3E}">
        <p14:creationId xmlns:p14="http://schemas.microsoft.com/office/powerpoint/2010/main" val="53488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6855</TotalTime>
  <Words>2392</Words>
  <Application>Microsoft Office PowerPoint</Application>
  <PresentationFormat>On-screen Show (16:9)</PresentationFormat>
  <Paragraphs>285</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CiscoSans ExtraLight</vt:lpstr>
      <vt:lpstr>Courier New</vt:lpstr>
      <vt:lpstr>Wingdings</vt:lpstr>
      <vt:lpstr>Default Theme</vt:lpstr>
      <vt:lpstr>Module 1: Single-Area OSPFv2 Concepts</vt:lpstr>
      <vt:lpstr>Module 1: Single-Area OSPFv2 Concepts</vt:lpstr>
      <vt:lpstr>Module Objectives</vt:lpstr>
      <vt:lpstr>1.1 OSPF Features and Characteristics</vt:lpstr>
      <vt:lpstr>OSPF Features and Characteristics Introduction to OSPF</vt:lpstr>
      <vt:lpstr>OSPF Features and Characteristics Components of OSPF</vt:lpstr>
      <vt:lpstr>OSPF Features and Characteristics Components of OSPF (Cont.)</vt:lpstr>
      <vt:lpstr>OSPF Features and Characteristics Components of OSPF (Cont.)</vt:lpstr>
      <vt:lpstr>OSPF Features and Characteristics Link-State Operation</vt:lpstr>
      <vt:lpstr>OSPF Features and Characteristics Single-Area and Multiarea OSPF</vt:lpstr>
      <vt:lpstr>OSPF Features and Characteristics Multiarea OSPF</vt:lpstr>
      <vt:lpstr>OSPF Features and Characteristics OSPFv3</vt:lpstr>
      <vt:lpstr>1.2 OSPF Packets</vt:lpstr>
      <vt:lpstr>OSPF Packets Types of OSPF Packets</vt:lpstr>
      <vt:lpstr>OSPF Packets Link-State Updates</vt:lpstr>
      <vt:lpstr>OSPF Packets Hello Packet</vt:lpstr>
      <vt:lpstr>1.3 OSPF Operation</vt:lpstr>
      <vt:lpstr>OSPF Operation OSPF Operational States</vt:lpstr>
      <vt:lpstr>OSPF Operation OSPF Operational States (Cont.)</vt:lpstr>
      <vt:lpstr>OSPF Operation Establish Neighbor Adjacencies</vt:lpstr>
      <vt:lpstr>OSPF Operation Establish Neighbor Adjacencies – Down State</vt:lpstr>
      <vt:lpstr>OSPF Operation Establish Neighbor Adjacencies – Init State</vt:lpstr>
      <vt:lpstr>OSPF Operation Establish Neighbor Adjacencies – Two-Way State</vt:lpstr>
      <vt:lpstr>OSPF Operation Establish Neighbor Adjacencies – Two-Way State (Cont.)</vt:lpstr>
      <vt:lpstr>OSPF Operation Synchronizing OSPF Databases</vt:lpstr>
      <vt:lpstr>OSPF Operation Synchronizing OSPF Databases - ExStart</vt:lpstr>
      <vt:lpstr>OSPF Operation Synchronizing OSPF Databases - Exchange</vt:lpstr>
      <vt:lpstr>OSPF Operation Synchronizing OSPF Databases - Loading</vt:lpstr>
      <vt:lpstr>OSPF Operation The Need for a DR</vt:lpstr>
      <vt:lpstr>OSPF Operation LSA Flooding with a DR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451</cp:revision>
  <dcterms:created xsi:type="dcterms:W3CDTF">2019-10-18T06:21:22Z</dcterms:created>
  <dcterms:modified xsi:type="dcterms:W3CDTF">2021-11-21T12:30:46Z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