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8.xml" ContentType="application/vnd.openxmlformats-officedocument.presentationml.tags+xml"/>
  <Override PartName="/ppt/notesSlides/notesSlide24.xml" ContentType="application/vnd.openxmlformats-officedocument.presentationml.notesSlide+xml"/>
  <Override PartName="/ppt/tags/tag9.xml" ContentType="application/vnd.openxmlformats-officedocument.presentationml.tags+xml"/>
  <Override PartName="/ppt/notesSlides/notesSlide25.xml" ContentType="application/vnd.openxmlformats-officedocument.presentationml.notesSlide+xml"/>
  <Override PartName="/ppt/tags/tag10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1.xml" ContentType="application/vnd.openxmlformats-officedocument.presentationml.tags+xml"/>
  <Override PartName="/ppt/notesSlides/notesSlide29.xml" ContentType="application/vnd.openxmlformats-officedocument.presentationml.notesSlide+xml"/>
  <Override PartName="/ppt/tags/tag12.xml" ContentType="application/vnd.openxmlformats-officedocument.presentationml.tags+xml"/>
  <Override PartName="/ppt/notesSlides/notesSlide30.xml" ContentType="application/vnd.openxmlformats-officedocument.presentationml.notesSlide+xml"/>
  <Override PartName="/ppt/tags/tag13.xml" ContentType="application/vnd.openxmlformats-officedocument.presentationml.tags+xml"/>
  <Override PartName="/ppt/notesSlides/notesSlide31.xml" ContentType="application/vnd.openxmlformats-officedocument.presentationml.notesSlide+xml"/>
  <Override PartName="/ppt/tags/tag14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4"/>
  </p:notesMasterIdLst>
  <p:sldIdLst>
    <p:sldId id="513" r:id="rId2"/>
    <p:sldId id="876" r:id="rId3"/>
    <p:sldId id="1090" r:id="rId4"/>
    <p:sldId id="759" r:id="rId5"/>
    <p:sldId id="1054" r:id="rId6"/>
    <p:sldId id="1091" r:id="rId7"/>
    <p:sldId id="1103" r:id="rId8"/>
    <p:sldId id="1056" r:id="rId9"/>
    <p:sldId id="1058" r:id="rId10"/>
    <p:sldId id="1092" r:id="rId11"/>
    <p:sldId id="1093" r:id="rId12"/>
    <p:sldId id="1094" r:id="rId13"/>
    <p:sldId id="1061" r:id="rId14"/>
    <p:sldId id="1095" r:id="rId15"/>
    <p:sldId id="1096" r:id="rId16"/>
    <p:sldId id="1097" r:id="rId17"/>
    <p:sldId id="1098" r:id="rId18"/>
    <p:sldId id="1099" r:id="rId19"/>
    <p:sldId id="1063" r:id="rId20"/>
    <p:sldId id="1064" r:id="rId21"/>
    <p:sldId id="1100" r:id="rId22"/>
    <p:sldId id="1104" r:id="rId23"/>
    <p:sldId id="1105" r:id="rId24"/>
    <p:sldId id="957" r:id="rId25"/>
    <p:sldId id="958" r:id="rId26"/>
    <p:sldId id="1102" r:id="rId27"/>
    <p:sldId id="1106" r:id="rId28"/>
    <p:sldId id="1107" r:id="rId29"/>
    <p:sldId id="1101" r:id="rId30"/>
    <p:sldId id="1089" r:id="rId31"/>
    <p:sldId id="874" r:id="rId32"/>
    <p:sldId id="291" r:id="rId33"/>
  </p:sldIdLst>
  <p:sldSz cx="9144000" cy="5143500" type="screen16x9"/>
  <p:notesSz cx="6858000" cy="9144000"/>
  <p:custDataLst>
    <p:tags r:id="rId3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70340" autoAdjust="0"/>
  </p:normalViewPr>
  <p:slideViewPr>
    <p:cSldViewPr snapToGrid="0" showGuides="1">
      <p:cViewPr varScale="1">
        <p:scale>
          <a:sx n="108" d="100"/>
          <a:sy n="108" d="100"/>
        </p:scale>
        <p:origin x="2016" y="10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5/15/2021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r>
              <a:rPr lang="en-US" dirty="0"/>
              <a:t>Module 10: Basic Router Configuration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3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 dirty="0"/>
              <a:t>10 – Basic Router Configuration</a:t>
            </a:r>
          </a:p>
          <a:p>
            <a:pPr>
              <a:buFontTx/>
              <a:buNone/>
            </a:pPr>
            <a:r>
              <a:rPr lang="en-GB" dirty="0"/>
              <a:t>10.0.2- What will I learn in this module?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Configure Initial Router Settings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10.1.1 – Basic Routing Configuration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10.1.2 – Basic Routing Configuration Example</a:t>
            </a:r>
          </a:p>
          <a:p>
            <a:r>
              <a:rPr lang="en-US" dirty="0"/>
              <a:t>10.1.3 - Syntax Checker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57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10.1.4 – Packet Tracer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04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Configure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10.2.1 – Configure Router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3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26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10.2.3 – Verify Interface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83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42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904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79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  <a:p>
            <a:r>
              <a:rPr lang="en-US" dirty="0"/>
              <a:t>10.2.5 Syntax Checker – Configure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74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Configure the Default Gateway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10.3.1 – Default Gateway on a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10.3.2 – Default Gateway on a Switch</a:t>
            </a:r>
          </a:p>
          <a:p>
            <a:r>
              <a:rPr lang="en-US" dirty="0"/>
              <a:t>10.3.3 – Syntax Checker – Configure the Default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103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10.3– Configure the Default Gateway</a:t>
            </a:r>
          </a:p>
          <a:p>
            <a:r>
              <a:rPr lang="en-US" dirty="0"/>
              <a:t>10.3.4 – Packet Tracer – Connect a Router to a 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64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10.3– Configure the Default Gateway</a:t>
            </a:r>
          </a:p>
          <a:p>
            <a:r>
              <a:rPr lang="en-US" dirty="0"/>
              <a:t>10.3.5 – Packet Tracer – Troubleshoot Default Gateway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519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25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10.4.1 – Video – Network Device Differences: Part 1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26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10.4.2 – Video – Network Device Differences: Part 2</a:t>
            </a:r>
          </a:p>
        </p:txBody>
      </p:sp>
    </p:spTree>
    <p:extLst>
      <p:ext uri="{BB962C8B-B14F-4D97-AF65-F5344CB8AC3E}">
        <p14:creationId xmlns:p14="http://schemas.microsoft.com/office/powerpoint/2010/main" val="2533704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10.4– Configure the Default Gateway</a:t>
            </a:r>
          </a:p>
          <a:p>
            <a:r>
              <a:rPr lang="en-US" dirty="0"/>
              <a:t>10.4.3 – Packet Tracer – Basic Device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9733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10.4– Configure the Default Gateway</a:t>
            </a:r>
          </a:p>
          <a:p>
            <a:r>
              <a:rPr lang="en-US" dirty="0"/>
              <a:t>10.4.4 – PTPM and Lab – Build a Switch and Router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29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10.4.5 – What did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26061680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30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10.4.5 – What did I learn in this module (Cont.)?</a:t>
            </a:r>
          </a:p>
        </p:txBody>
      </p:sp>
    </p:spTree>
    <p:extLst>
      <p:ext uri="{BB962C8B-B14F-4D97-AF65-F5344CB8AC3E}">
        <p14:creationId xmlns:p14="http://schemas.microsoft.com/office/powerpoint/2010/main" val="27074346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31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76473" y="4741653"/>
            <a:ext cx="2849053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Basic Router Configuration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Basic Router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Basic Router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Implement initial settings on a router and end devices.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32762"/>
              </p:ext>
            </p:extLst>
          </p:nvPr>
        </p:nvGraphicFramePr>
        <p:xfrm>
          <a:off x="880345" y="2118939"/>
          <a:ext cx="6980904" cy="1486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Initial Router Settings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initial settings on an IOS Cisco router.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Interfaces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two active interfaces on a Cisco IOS router.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the Default Gateway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devices to use the default gateway.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9938957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10.1 Configure Initial Router Settings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Basic Router Configuration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Configure the device name.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privileged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user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remote Telnet / SSH access.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Encrypt all plaintext passwords.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legal notification and save the configuration.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en-US" sz="12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Basic Router Configuration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Commands for basic router configuration on R1.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Configuration is saved to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TEXT message. End with a new line and the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WARNING: Unauthorized access is prohibited!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Configure Initial Router Settings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default router configuration.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and verify the initial router configuration.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Save the running configuration file.</a:t>
            </a:r>
          </a:p>
        </p:txBody>
      </p:sp>
    </p:spTree>
    <p:extLst>
      <p:ext uri="{BB962C8B-B14F-4D97-AF65-F5344CB8AC3E}">
        <p14:creationId xmlns:p14="http://schemas.microsoft.com/office/powerpoint/2010/main" val="1090195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Configure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Router Interfaces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Configuring a router interface includes issuing the following commands: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E17110-55CB-48EF-A414-A5E9B161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3_">
            <a:extLst>
              <a:ext uri="{FF2B5EF4-FFF2-40B4-BE49-F238E27FC236}">
                <a16:creationId xmlns:a16="http://schemas.microsoft.com/office/drawing/2014/main" id="{694B5632-F1A8-4FC1-AA4C-612027B45A69}"/>
              </a:ext>
            </a:extLst>
          </p:cNvPr>
          <p:cNvSpPr txBox="1">
            <a:spLocks/>
          </p:cNvSpPr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It is a good practice to use the </a:t>
            </a:r>
            <a:r>
              <a:rPr lang="en-US" b="1" dirty="0">
                <a:solidFill>
                  <a:srgbClr val="000000"/>
                </a:solidFill>
              </a:rPr>
              <a:t>description</a:t>
            </a:r>
            <a:r>
              <a:rPr lang="en-US" dirty="0">
                <a:solidFill>
                  <a:srgbClr val="000000"/>
                </a:solidFill>
              </a:rPr>
              <a:t> command to add information about the network connected to the interface.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b="1" dirty="0">
                <a:solidFill>
                  <a:srgbClr val="000000"/>
                </a:solidFill>
              </a:rPr>
              <a:t>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shutdown </a:t>
            </a:r>
            <a:r>
              <a:rPr lang="en-US" dirty="0">
                <a:solidFill>
                  <a:srgbClr val="000000"/>
                </a:solidFill>
              </a:rPr>
              <a:t>command activates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Router Interfaces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G0/0/0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01:43:53.435: %LINK-3-UPDOWN: Interface GigabitEthernet0/0/0,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01:43:56.447: %LINK-3-UPDOWN: Interface GigabitEthernet0/0/0,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01:43:57.447: %LINEPROTO-5-UPDOWN: Line protocol on Interface GigabitEthernet0/0/0,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18167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Router Interfaces Example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G0/0/1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01:46:29.170: %LINK-3-UPDOWN: Interface GigabitEthernet0/0/1,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01:46:32.171: %LINK-3-UPDOWN: Interface GigabitEthernet0/0/1,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38276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Verify Interface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To verify interface configuration use the </a:t>
            </a:r>
            <a:r>
              <a:rPr lang="en-US" b="1" dirty="0">
                <a:solidFill>
                  <a:srgbClr val="000000"/>
                </a:solidFill>
              </a:rPr>
              <a:t>show ip interface brief </a:t>
            </a:r>
            <a:r>
              <a:rPr lang="en-US" dirty="0">
                <a:solidFill>
                  <a:srgbClr val="000000"/>
                </a:solidFill>
              </a:rPr>
              <a:t>and </a:t>
            </a:r>
            <a:r>
              <a:rPr lang="en-US" b="1" dirty="0">
                <a:solidFill>
                  <a:srgbClr val="000000"/>
                </a:solidFill>
              </a:rPr>
              <a:t>show ipv6 interface brief </a:t>
            </a:r>
            <a:r>
              <a:rPr lang="en-US" dirty="0">
                <a:solidFill>
                  <a:srgbClr val="000000"/>
                </a:solidFill>
              </a:rPr>
              <a:t>commands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2534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Verification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table summarizes show commands used to verify interface configuration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66291"/>
              </p:ext>
            </p:extLst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r>
                        <a:rPr lang="en-US" sz="1400" dirty="0"/>
                        <a:t>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all interfaces, their IP addresses, and their current status.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contents of the IP routing tables stored in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statistics for all interfaces on the device. Only displays the IPv4 addressing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IPv4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IPv6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View status of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brief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interface brief </a:t>
            </a:r>
            <a:r>
              <a:rPr lang="en-US" sz="1600" dirty="0">
                <a:solidFill>
                  <a:srgbClr val="000000"/>
                </a:solidFill>
              </a:rPr>
              <a:t>commands,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4882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the contents of the IP routing tables with the </a:t>
            </a:r>
            <a:r>
              <a:rPr lang="en-US" sz="1600" b="1" dirty="0">
                <a:solidFill>
                  <a:srgbClr val="000000"/>
                </a:solidFill>
              </a:rPr>
              <a:t>show ip route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route </a:t>
            </a:r>
            <a:r>
              <a:rPr lang="en-US" sz="1600" dirty="0">
                <a:solidFill>
                  <a:srgbClr val="000000"/>
                </a:solidFill>
              </a:rPr>
              <a:t>commands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192.168.10.0/24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192.168.10.1/32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209.165.200.224/30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209.165.200.225/32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2001:DB8:ACAD:10::/64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2001:DB8:ACAD:10::1/128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2001:DB8:FEED:224::/64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2001:DB8:FEED:224::1/128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FF00::/8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688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statistics for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interfaces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Hardware is ISR4321-2x1GE, address is a0e0.af0d.e140 (bia  a0e0.af0d.e140)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100Mbps, link type is auto, media type is RJ45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flow-control is off, input flow-control is off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queue: 0/375/0/0 (size/max/drops/flushes); Total output     drops: 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2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IPv4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Proxy ARP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Local Proxy ARP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Security level is default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Split horizon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mask replies are never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fast switching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Flow switching is disabled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7147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IPv6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ipv6 interface </a:t>
            </a:r>
            <a:r>
              <a:rPr lang="en-US" sz="1600" dirty="0">
                <a:solidFill>
                  <a:srgbClr val="000000"/>
                </a:solidFill>
              </a:rPr>
              <a:t>command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661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Configure the Default Gateway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Default Gateway on a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is used when a host sends a packet to a device on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address is generally the router interface address attached to the local network of the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reach PC3, PC1 addresses a packet with the IPv4 address of PC3, but forwards the packet to its default gateway, the G0/0/0 interface of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Note</a:t>
            </a:r>
            <a:r>
              <a:rPr lang="en-US" sz="1600" dirty="0">
                <a:solidFill>
                  <a:srgbClr val="000000"/>
                </a:solidFill>
              </a:rPr>
              <a:t>: The IP address of the host and the router interface must be in the same network.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Default Gateway on a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14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switch must have a default gateway address configured to remotely manage the switch from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IPv4 default gateway on a switch, use the </a:t>
            </a:r>
            <a:r>
              <a:rPr lang="en-US" b="1" dirty="0">
                <a:solidFill>
                  <a:srgbClr val="000000"/>
                </a:solidFill>
              </a:rPr>
              <a:t>ip default-gateway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ip-address </a:t>
            </a:r>
            <a:r>
              <a:rPr lang="en-US" dirty="0">
                <a:solidFill>
                  <a:srgbClr val="000000"/>
                </a:solidFill>
              </a:rPr>
              <a:t>global configuration command.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1D5D00-3D9F-3E4A-B62C-66D13E5CE20B}"/>
              </a:ext>
            </a:extLst>
          </p:cNvPr>
          <p:cNvSpPr txBox="1"/>
          <p:nvPr/>
        </p:nvSpPr>
        <p:spPr>
          <a:xfrm>
            <a:off x="3829878" y="731837"/>
            <a:ext cx="4402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MEDIA IS WORKING ON A CORRECTED VERSION OF THE GRAPHIC FROM 10.3.2.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IT IS WRONG ON AR, AND ON THE GLOBAL BUG LIST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F983A9E2-6668-F24E-8A3A-4D0990AAC601}"/>
              </a:ext>
            </a:extLst>
          </p:cNvPr>
          <p:cNvSpPr/>
          <p:nvPr/>
        </p:nvSpPr>
        <p:spPr>
          <a:xfrm>
            <a:off x="5116546" y="2355952"/>
            <a:ext cx="1828800" cy="1830983"/>
          </a:xfrm>
          <a:prstGeom prst="octagon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55675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Connect a Router to a 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Display the router information.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router interfaces. 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35885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Troubleshoot Default Gateway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network documentation and use tests to isolate problems.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Determine an appropriate solution for a given problem.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 the solution.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Test to verify the problem is resolved.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Document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848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Video – Network Device Differences: Part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This video will cover the different physical characteristics of the following: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4000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2900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1900 Series Router.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Video – Network Device Differences: Part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This video will cover the different configurations of the following: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4000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2900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1900 Series Router.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875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Basic Device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Complete the network documentation.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Perform basic device configurations on a router and a switch.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connectivity and troubleshoot any issues.</a:t>
            </a:r>
          </a:p>
        </p:txBody>
      </p:sp>
    </p:spTree>
    <p:extLst>
      <p:ext uri="{BB962C8B-B14F-4D97-AF65-F5344CB8AC3E}">
        <p14:creationId xmlns:p14="http://schemas.microsoft.com/office/powerpoint/2010/main" val="1122009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2" y="1654450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both the Packet Tracer Physical Mode activity and in the Lab, you will complete the following objectives: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Set up the topology and initialize devices.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devices and verify connectivity.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Display device information.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Build a Switch and Router Network – Physical Mode</a:t>
            </a:r>
            <a:br>
              <a:rPr lang="en-US" sz="2400" dirty="0"/>
            </a:br>
            <a:r>
              <a:rPr lang="en-US" sz="2400" dirty="0"/>
              <a:t>Lab – Build a Switch and Router Network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tasks that should be completed when configuring initial settings on a router.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Configure the device name.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privileged EXEC mode.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user EXEC mode.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remote Telnet / SSH access.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all passwords in the config file.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 legal notification.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Save the configuration.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For routers to be reachable, the router interfaces must be configured.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Using the </a:t>
            </a:r>
            <a:r>
              <a:rPr lang="en-US" sz="1600" b="1" dirty="0"/>
              <a:t>no shutdown</a:t>
            </a:r>
            <a:r>
              <a:rPr lang="en-US" sz="1600" dirty="0"/>
              <a:t> command activates the interface. The interface must also be connected to another device, such as a switch or a router, for the physical layer to be active. There are several commands that can be used to verify interface configuration including the </a:t>
            </a:r>
            <a:r>
              <a:rPr lang="en-US" sz="1600" b="1" dirty="0"/>
              <a:t>show ip interface brief</a:t>
            </a:r>
            <a:r>
              <a:rPr lang="en-US" sz="1600" dirty="0"/>
              <a:t> and </a:t>
            </a:r>
            <a:r>
              <a:rPr lang="en-US" sz="1600" b="1" dirty="0"/>
              <a:t>show ipv6 interface brief</a:t>
            </a:r>
            <a:r>
              <a:rPr lang="en-US" sz="1600" dirty="0"/>
              <a:t>, the </a:t>
            </a:r>
            <a:r>
              <a:rPr lang="en-US" sz="1600" b="1" dirty="0"/>
              <a:t>show ip route</a:t>
            </a:r>
            <a:r>
              <a:rPr lang="en-US" sz="1600" dirty="0"/>
              <a:t> and </a:t>
            </a:r>
            <a:r>
              <a:rPr lang="en-US" sz="1600" b="1" dirty="0"/>
              <a:t>show ipv6 route</a:t>
            </a:r>
            <a:r>
              <a:rPr lang="en-US" sz="1600" dirty="0"/>
              <a:t>, as well as </a:t>
            </a:r>
            <a:r>
              <a:rPr lang="en-US" sz="1600" b="1" dirty="0"/>
              <a:t>show interfaces</a:t>
            </a:r>
            <a:r>
              <a:rPr lang="en-US" sz="1600" dirty="0"/>
              <a:t>, </a:t>
            </a:r>
            <a:r>
              <a:rPr lang="en-US" sz="1600" b="1" dirty="0"/>
              <a:t>show ip interface</a:t>
            </a:r>
            <a:r>
              <a:rPr lang="en-US" sz="1600" dirty="0"/>
              <a:t> and </a:t>
            </a:r>
            <a:r>
              <a:rPr lang="en-US" sz="1600" b="1" dirty="0"/>
              <a:t>show ipv6 interface.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3525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 (Cont.)?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For an end device to reach other networks, a default gateway must be configured.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The IP address of the host device and the router interface address must be in the same network.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 switch must have a default gateway address configured to remotely manage the switch from another network.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To configure an IPv4 default gateway on a switch, use the </a:t>
            </a:r>
            <a:r>
              <a:rPr lang="en-US" sz="1800" b="1" dirty="0"/>
              <a:t>ip default-gateway </a:t>
            </a:r>
            <a:r>
              <a:rPr lang="en-US" sz="1800" i="1" dirty="0"/>
              <a:t>ip-address </a:t>
            </a:r>
            <a:r>
              <a:rPr lang="en-US" sz="1800" dirty="0"/>
              <a:t>global configuration command.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9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10: Basic Router Configuration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2187D21-D66C-4895-A65D-7270601A2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89341"/>
              </p:ext>
            </p:extLst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53486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interfaces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ip default-gateway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5226</TotalTime>
  <Words>2935</Words>
  <Application>Microsoft Office PowerPoint</Application>
  <PresentationFormat>On-screen Show (16:9)</PresentationFormat>
  <Paragraphs>437</Paragraphs>
  <Slides>32</Slides>
  <Notes>32</Notes>
  <HiddenSlides>10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Courier New</vt:lpstr>
      <vt:lpstr>Times New Roman</vt:lpstr>
      <vt:lpstr>Wingdings</vt:lpstr>
      <vt:lpstr>Default Theme</vt:lpstr>
      <vt:lpstr>Module 10: Basic Router Configuration</vt:lpstr>
      <vt:lpstr>Module 10: Basic Router Configuration</vt:lpstr>
      <vt:lpstr>Module Objectives</vt:lpstr>
      <vt:lpstr>10.1 Configure Initial Router Settings</vt:lpstr>
      <vt:lpstr>Configure Initial Router Settings Basic Router Configuration Steps</vt:lpstr>
      <vt:lpstr>Configure Initial Router Settings Basic Router Configuration Example</vt:lpstr>
      <vt:lpstr>Configure Initial Router Settings Packet Tracer – Configure Initial Router Settings</vt:lpstr>
      <vt:lpstr>10.2 Configure Interfaces</vt:lpstr>
      <vt:lpstr>Configure Interfaces Configure Router Interfaces</vt:lpstr>
      <vt:lpstr>Configure Interfaces Configure Router Interfaces Example</vt:lpstr>
      <vt:lpstr>Configure Interfaces Configure Router Interfaces Example (Cont.)</vt:lpstr>
      <vt:lpstr>Configure Interfaces Verify Interface Configuration</vt:lpstr>
      <vt:lpstr>Configure Interfaces Configure Verification Commands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10.3 Configure the Default Gateway</vt:lpstr>
      <vt:lpstr>Configure the Default Gateway Default Gateway on a Host</vt:lpstr>
      <vt:lpstr>Configure the Default Gateway Default Gateway on a Switch</vt:lpstr>
      <vt:lpstr>Configure Initial Router Settings Packet Tracer – Connect a Router to a LAN</vt:lpstr>
      <vt:lpstr>Configure Initial Router Settings Packet Tracer – Troubleshoot Default Gateway Issues</vt:lpstr>
      <vt:lpstr>10.4 Module Practice and Quiz</vt:lpstr>
      <vt:lpstr>Module Practice and Quiz Video – Network Device Differences: Part 1</vt:lpstr>
      <vt:lpstr>Module Practice and Quiz Video – Network Device Differences: Part 2</vt:lpstr>
      <vt:lpstr>Configure Initial Router Settings Packet Tracer – Basic Device Configuration</vt:lpstr>
      <vt:lpstr>Configure Initial Router Settings Packet Tracer – Build a Switch and Router Network – Physical Mode Lab – Build a Switch and Router Network</vt:lpstr>
      <vt:lpstr>Module Practice and Quiz What did I learn in this module?</vt:lpstr>
      <vt:lpstr>Module Practice and Quiz What did I learn in this module (Cont.)?</vt:lpstr>
      <vt:lpstr>Module 10: Basic Router Configuration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Coelho Pedro (ITI-PT)</cp:lastModifiedBy>
  <cp:revision>228</cp:revision>
  <dcterms:created xsi:type="dcterms:W3CDTF">2019-10-18T06:21:22Z</dcterms:created>
  <dcterms:modified xsi:type="dcterms:W3CDTF">2021-05-15T17:39:00Z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